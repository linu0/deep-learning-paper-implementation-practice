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7" r:id="rId3"/>
    <p:sldId id="280" r:id="rId4"/>
    <p:sldId id="281" r:id="rId5"/>
    <p:sldId id="282" r:id="rId6"/>
    <p:sldId id="286" r:id="rId7"/>
    <p:sldId id="295" r:id="rId8"/>
    <p:sldId id="287" r:id="rId9"/>
    <p:sldId id="263" r:id="rId10"/>
    <p:sldId id="290" r:id="rId11"/>
    <p:sldId id="291" r:id="rId12"/>
    <p:sldId id="292" r:id="rId13"/>
    <p:sldId id="265" r:id="rId14"/>
    <p:sldId id="288" r:id="rId15"/>
    <p:sldId id="289" r:id="rId16"/>
    <p:sldId id="293" r:id="rId17"/>
    <p:sldId id="294" r:id="rId18"/>
    <p:sldId id="283" r:id="rId19"/>
    <p:sldId id="28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宥霖 林" initials="宥霖" lastIdx="1" clrIdx="0">
    <p:extLst>
      <p:ext uri="{19B8F6BF-5375-455C-9EA6-DF929625EA0E}">
        <p15:presenceInfo xmlns:p15="http://schemas.microsoft.com/office/powerpoint/2012/main" userId="d983dc606d8c4ec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B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66152" autoAdjust="0"/>
  </p:normalViewPr>
  <p:slideViewPr>
    <p:cSldViewPr snapToGrid="0">
      <p:cViewPr varScale="1">
        <p:scale>
          <a:sx n="74" d="100"/>
          <a:sy n="74" d="100"/>
        </p:scale>
        <p:origin x="20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5108BB-CEE0-438E-9A87-44BB4662F93C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4D97F-EC8D-4129-B8C2-2B6CBC1BF9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6516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4D97F-EC8D-4129-B8C2-2B6CBC1BF9B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147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前一代 </a:t>
            </a:r>
            <a:r>
              <a:rPr lang="en-US" altLang="zh-TW"/>
              <a:t>MedViT V1 </a:t>
            </a:r>
            <a:r>
              <a:rPr lang="zh-TW" altLang="en-US"/>
              <a:t>在模型變大時，性能反而會下降，這就是所謂的「特徵崩潰 </a:t>
            </a:r>
            <a:r>
              <a:rPr lang="en-US" altLang="zh-TW"/>
              <a:t>(feature collapse)</a:t>
            </a:r>
            <a:r>
              <a:rPr lang="zh-TW" altLang="en-US"/>
              <a:t>」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4D97F-EC8D-4129-B8C2-2B6CBC1BF9B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6846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第一項創新是</a:t>
            </a:r>
            <a:r>
              <a:rPr lang="en-US" altLang="zh-TW" dirty="0"/>
              <a:t>『</a:t>
            </a:r>
            <a:r>
              <a:rPr lang="zh-TW" altLang="en-US" b="1" dirty="0"/>
              <a:t>可變長度編碼器架構</a:t>
            </a:r>
            <a:r>
              <a:rPr lang="en-US" altLang="zh-TW" dirty="0"/>
              <a:t>』</a:t>
            </a:r>
          </a:p>
          <a:p>
            <a:r>
              <a:rPr lang="zh-TW" altLang="en-US" dirty="0"/>
              <a:t>當時</a:t>
            </a:r>
            <a:r>
              <a:rPr lang="en-US" altLang="zh-TW" dirty="0"/>
              <a:t>Whisper </a:t>
            </a:r>
            <a:r>
              <a:rPr lang="zh-TW" altLang="en-US" dirty="0"/>
              <a:t>無論處理多短的語音，都必須將音訊</a:t>
            </a:r>
            <a:r>
              <a:rPr lang="zh-TW" altLang="en-US" b="1" dirty="0"/>
              <a:t>填充（</a:t>
            </a:r>
            <a:r>
              <a:rPr lang="en-US" altLang="zh-TW" b="1" dirty="0"/>
              <a:t>zero-padding</a:t>
            </a:r>
            <a:r>
              <a:rPr lang="zh-TW" altLang="en-US" b="1" dirty="0"/>
              <a:t>）到 </a:t>
            </a:r>
            <a:r>
              <a:rPr lang="en-US" altLang="zh-TW" b="1" dirty="0"/>
              <a:t>30 </a:t>
            </a:r>
            <a:r>
              <a:rPr lang="zh-TW" altLang="en-US" b="1" dirty="0"/>
              <a:t>秒</a:t>
            </a:r>
            <a:r>
              <a:rPr lang="zh-TW" altLang="en-US" dirty="0"/>
              <a:t>的固定長度來處理 。</a:t>
            </a:r>
            <a:endParaRPr lang="en-US" altLang="zh-TW" dirty="0"/>
          </a:p>
          <a:p>
            <a:r>
              <a:rPr lang="zh-TW" altLang="en-US" dirty="0"/>
              <a:t>多餘計算開銷，尤其是在處理短語音</a:t>
            </a:r>
            <a:endParaRPr lang="en-US" altLang="zh-TW" dirty="0"/>
          </a:p>
          <a:p>
            <a:r>
              <a:rPr lang="zh-TW" altLang="en-US" dirty="0"/>
              <a:t>而 </a:t>
            </a:r>
            <a:r>
              <a:rPr lang="en-US" altLang="zh-TW" dirty="0"/>
              <a:t>Moonshine </a:t>
            </a:r>
            <a:r>
              <a:rPr lang="zh-TW" altLang="en-US" dirty="0"/>
              <a:t>的設計，可以直接處理</a:t>
            </a:r>
            <a:r>
              <a:rPr lang="zh-TW" altLang="en-US" b="1" dirty="0"/>
              <a:t>不同長度</a:t>
            </a:r>
            <a:r>
              <a:rPr lang="zh-TW" altLang="en-US" dirty="0"/>
              <a:t>的語音片段，完全不需要零填充 。</a:t>
            </a:r>
            <a:endParaRPr lang="en-US" altLang="zh-TW" dirty="0"/>
          </a:p>
          <a:p>
            <a:r>
              <a:rPr lang="zh-TW" altLang="en-US" dirty="0"/>
              <a:t>需要第二項創新：</a:t>
            </a:r>
            <a:r>
              <a:rPr lang="en-US" altLang="zh-TW" dirty="0"/>
              <a:t>『</a:t>
            </a:r>
            <a:r>
              <a:rPr lang="zh-TW" altLang="en-US" b="1" dirty="0"/>
              <a:t>使用旋轉位置嵌入 </a:t>
            </a:r>
            <a:r>
              <a:rPr lang="en-US" altLang="zh-TW" b="1" dirty="0"/>
              <a:t>(</a:t>
            </a:r>
            <a:r>
              <a:rPr lang="en-US" altLang="zh-TW" b="1" dirty="0" err="1"/>
              <a:t>RoPE</a:t>
            </a:r>
            <a:r>
              <a:rPr lang="en-US" altLang="zh-TW" b="1" dirty="0"/>
              <a:t>)』</a:t>
            </a:r>
            <a:r>
              <a:rPr lang="zh-TW" altLang="en-US" dirty="0"/>
              <a:t> </a:t>
            </a:r>
            <a:r>
              <a:rPr lang="en-US" altLang="zh-TW" dirty="0"/>
              <a:t>(Rotary Position Embeddings)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論文中提到，</a:t>
            </a:r>
            <a:r>
              <a:rPr lang="en-US" altLang="zh-TW" dirty="0"/>
              <a:t>Whisper </a:t>
            </a:r>
            <a:r>
              <a:rPr lang="zh-TW" altLang="en-US" dirty="0"/>
              <a:t>使用的是</a:t>
            </a:r>
            <a:r>
              <a:rPr lang="en-US" altLang="zh-TW" dirty="0"/>
              <a:t>『</a:t>
            </a:r>
            <a:r>
              <a:rPr lang="zh-TW" altLang="en-US" dirty="0"/>
              <a:t>絕對位置嵌入</a:t>
            </a:r>
            <a:r>
              <a:rPr lang="en-US" altLang="zh-TW" dirty="0"/>
              <a:t>』 </a:t>
            </a:r>
            <a:r>
              <a:rPr lang="zh-TW" altLang="en-US" dirty="0"/>
              <a:t>。</a:t>
            </a:r>
          </a:p>
          <a:p>
            <a:r>
              <a:rPr lang="en-US" altLang="zh-TW" dirty="0"/>
              <a:t>Moonshine </a:t>
            </a:r>
            <a:r>
              <a:rPr lang="zh-TW" altLang="en-US" dirty="0"/>
              <a:t>透過改用 </a:t>
            </a:r>
            <a:r>
              <a:rPr lang="en-US" altLang="zh-TW" dirty="0" err="1"/>
              <a:t>RoPE</a:t>
            </a:r>
            <a:r>
              <a:rPr lang="en-US" altLang="zh-TW" dirty="0"/>
              <a:t> </a:t>
            </a:r>
            <a:r>
              <a:rPr lang="zh-TW" altLang="en-US" dirty="0"/>
              <a:t>，這是一種</a:t>
            </a:r>
            <a:r>
              <a:rPr lang="en-US" altLang="zh-TW" dirty="0"/>
              <a:t>『</a:t>
            </a:r>
            <a:r>
              <a:rPr lang="zh-TW" altLang="en-US" dirty="0"/>
              <a:t>相對位置嵌入</a:t>
            </a:r>
            <a:r>
              <a:rPr lang="en-US" altLang="zh-TW" dirty="0"/>
              <a:t>』</a:t>
            </a:r>
            <a:r>
              <a:rPr lang="zh-TW" altLang="en-US" dirty="0"/>
              <a:t>，讓模型能夠更靈活地理解不同長度序列中音訊特徵的相對位置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圖表說明：</a:t>
            </a:r>
            <a:r>
              <a:rPr lang="zh-TW" altLang="en-US" dirty="0"/>
              <a:t> 這張圖比較了 </a:t>
            </a:r>
            <a:r>
              <a:rPr lang="en-US" altLang="zh-TW" dirty="0"/>
              <a:t>Moonshine Base</a:t>
            </a:r>
            <a:r>
              <a:rPr lang="zh-TW" altLang="en-US" dirty="0"/>
              <a:t>（藍線）和 </a:t>
            </a:r>
            <a:r>
              <a:rPr lang="en-US" altLang="zh-TW" dirty="0"/>
              <a:t>Whisper </a:t>
            </a:r>
            <a:r>
              <a:rPr lang="en-US" altLang="zh-TW" dirty="0" err="1"/>
              <a:t>base.en</a:t>
            </a:r>
            <a:r>
              <a:rPr lang="zh-TW" altLang="en-US" dirty="0"/>
              <a:t>（橘線）的</a:t>
            </a:r>
            <a:r>
              <a:rPr lang="zh-TW" altLang="en-US" b="1" dirty="0"/>
              <a:t>詞錯誤率 </a:t>
            </a:r>
            <a:r>
              <a:rPr lang="en-US" altLang="zh-TW" b="1" dirty="0"/>
              <a:t>(WER)</a:t>
            </a:r>
            <a:r>
              <a:rPr lang="zh-TW" altLang="en-US" dirty="0"/>
              <a:t> </a:t>
            </a:r>
            <a:r>
              <a:rPr lang="en-US" altLang="zh-TW" dirty="0"/>
              <a:t>——WER </a:t>
            </a:r>
            <a:r>
              <a:rPr lang="zh-TW" altLang="en-US" dirty="0"/>
              <a:t>越低，代表辨識結果越準確。</a:t>
            </a:r>
            <a:r>
              <a:rPr lang="en-US" altLang="zh-TW" dirty="0"/>
              <a:t>X </a:t>
            </a:r>
            <a:r>
              <a:rPr lang="zh-TW" altLang="en-US" dirty="0"/>
              <a:t>軸是音訊的持續時間（秒）。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關鍵發現 </a:t>
            </a:r>
            <a:r>
              <a:rPr lang="en-US" altLang="zh-TW" b="1" dirty="0"/>
              <a:t>1</a:t>
            </a:r>
            <a:r>
              <a:rPr lang="zh-TW" altLang="en-US" b="1" dirty="0"/>
              <a:t>：</a:t>
            </a:r>
            <a:r>
              <a:rPr lang="zh-TW" altLang="en-US" dirty="0"/>
              <a:t> 在 </a:t>
            </a:r>
            <a:r>
              <a:rPr lang="en-US" altLang="zh-TW" dirty="0"/>
              <a:t>10 </a:t>
            </a:r>
            <a:r>
              <a:rPr lang="zh-TW" altLang="en-US" dirty="0"/>
              <a:t>秒到 </a:t>
            </a:r>
            <a:r>
              <a:rPr lang="en-US" altLang="zh-TW" dirty="0"/>
              <a:t>35 </a:t>
            </a:r>
            <a:r>
              <a:rPr lang="zh-TW" altLang="en-US" dirty="0"/>
              <a:t>秒這個範圍內，您可以看到 </a:t>
            </a:r>
            <a:r>
              <a:rPr lang="en-US" altLang="zh-TW" dirty="0"/>
              <a:t>Moonshine Base</a:t>
            </a:r>
            <a:r>
              <a:rPr lang="zh-TW" altLang="en-US" dirty="0"/>
              <a:t>（藍線）的 </a:t>
            </a:r>
            <a:r>
              <a:rPr lang="en-US" altLang="zh-TW" dirty="0"/>
              <a:t>WER </a:t>
            </a:r>
            <a:r>
              <a:rPr lang="zh-TW" altLang="en-US" dirty="0"/>
              <a:t>大部分時間都</a:t>
            </a:r>
            <a:r>
              <a:rPr lang="zh-TW" altLang="en-US" b="1" dirty="0"/>
              <a:t>低於或接近</a:t>
            </a:r>
            <a:r>
              <a:rPr lang="zh-TW" altLang="en-US" dirty="0"/>
              <a:t> </a:t>
            </a:r>
            <a:r>
              <a:rPr lang="en-US" altLang="zh-TW" dirty="0"/>
              <a:t>Whisper </a:t>
            </a:r>
            <a:r>
              <a:rPr lang="en-US" altLang="zh-TW" dirty="0" err="1"/>
              <a:t>base.en</a:t>
            </a:r>
            <a:r>
              <a:rPr lang="zh-TW" altLang="en-US" dirty="0"/>
              <a:t>（橘線） 。這證明了 </a:t>
            </a:r>
            <a:r>
              <a:rPr lang="en-US" altLang="zh-TW" dirty="0"/>
              <a:t>Moonshine </a:t>
            </a:r>
            <a:r>
              <a:rPr lang="zh-TW" altLang="en-US" dirty="0"/>
              <a:t>在採用新架構後，其準確性在目標應用場景中（即時且通常較短的語音）能與 </a:t>
            </a:r>
            <a:r>
              <a:rPr lang="en-US" altLang="zh-TW" dirty="0"/>
              <a:t>Whisper </a:t>
            </a:r>
            <a:r>
              <a:rPr lang="zh-TW" altLang="en-US" dirty="0"/>
              <a:t>匹敵，甚至更好。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關鍵發現 </a:t>
            </a:r>
            <a:r>
              <a:rPr lang="en-US" altLang="zh-TW" b="1" dirty="0"/>
              <a:t>2 (</a:t>
            </a:r>
            <a:r>
              <a:rPr lang="zh-TW" altLang="en-US" b="1" dirty="0"/>
              <a:t>限制</a:t>
            </a:r>
            <a:r>
              <a:rPr lang="en-US" altLang="zh-TW" b="1" dirty="0"/>
              <a:t>)</a:t>
            </a:r>
            <a:r>
              <a:rPr lang="zh-TW" altLang="en-US" b="1" dirty="0"/>
              <a:t>：</a:t>
            </a:r>
            <a:r>
              <a:rPr lang="zh-TW" altLang="en-US" dirty="0"/>
              <a:t> 我們也看到，當音訊長度超過 </a:t>
            </a:r>
            <a:r>
              <a:rPr lang="en-US" altLang="zh-TW" dirty="0"/>
              <a:t>40 </a:t>
            </a:r>
            <a:r>
              <a:rPr lang="zh-TW" altLang="en-US" dirty="0"/>
              <a:t>秒，尤其是 </a:t>
            </a:r>
            <a:r>
              <a:rPr lang="en-US" altLang="zh-TW" dirty="0"/>
              <a:t>50 </a:t>
            </a:r>
            <a:r>
              <a:rPr lang="zh-TW" altLang="en-US" dirty="0"/>
              <a:t>秒以上時，</a:t>
            </a:r>
            <a:r>
              <a:rPr lang="en-US" altLang="zh-TW" dirty="0"/>
              <a:t>Moonshine </a:t>
            </a:r>
            <a:r>
              <a:rPr lang="zh-TW" altLang="en-US" dirty="0"/>
              <a:t>的錯誤率急遽上升 。論文中解釋，這是因為 </a:t>
            </a:r>
            <a:r>
              <a:rPr lang="en-US" altLang="zh-TW" dirty="0"/>
              <a:t>Moonshine </a:t>
            </a:r>
            <a:r>
              <a:rPr lang="zh-TW" altLang="en-US" dirty="0"/>
              <a:t>的訓練資料主要是 </a:t>
            </a:r>
            <a:r>
              <a:rPr lang="en-US" altLang="zh-TW" dirty="0"/>
              <a:t>30 </a:t>
            </a:r>
            <a:r>
              <a:rPr lang="zh-TW" altLang="en-US" dirty="0"/>
              <a:t>秒以下的音訊 ，當輸入遠超出訓練長度時，模型會開始出現</a:t>
            </a:r>
            <a:r>
              <a:rPr lang="en-US" altLang="zh-TW" dirty="0"/>
              <a:t>『</a:t>
            </a:r>
            <a:r>
              <a:rPr lang="zh-TW" altLang="en-US" dirty="0"/>
              <a:t>幻覺</a:t>
            </a:r>
            <a:r>
              <a:rPr lang="en-US" altLang="zh-TW" dirty="0"/>
              <a:t>』</a:t>
            </a:r>
            <a:r>
              <a:rPr lang="zh-TW" altLang="en-US" dirty="0"/>
              <a:t>（</a:t>
            </a:r>
            <a:r>
              <a:rPr lang="en-US" altLang="zh-TW" dirty="0"/>
              <a:t>hallucinations</a:t>
            </a:r>
            <a:r>
              <a:rPr lang="zh-TW" altLang="en-US" dirty="0"/>
              <a:t>），導致錯誤率飆升 。」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4D97F-EC8D-4129-B8C2-2B6CBC1BF9B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0622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音訊前端 </a:t>
            </a:r>
            <a:r>
              <a:rPr lang="en-US" altLang="zh-TW" b="1" dirty="0"/>
              <a:t>(Audio Frontend) </a:t>
            </a:r>
            <a:r>
              <a:rPr lang="zh-TW" altLang="en-US" b="1" dirty="0"/>
              <a:t>的差異：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Moonshine (</a:t>
            </a:r>
            <a:r>
              <a:rPr lang="zh-TW" altLang="en-US" b="1" dirty="0"/>
              <a:t>如圖所示</a:t>
            </a:r>
            <a:r>
              <a:rPr lang="en-US" altLang="zh-TW" b="1" dirty="0"/>
              <a:t>)</a:t>
            </a:r>
            <a:r>
              <a:rPr lang="zh-TW" altLang="en-US" b="1" dirty="0"/>
              <a:t>：</a:t>
            </a:r>
            <a:r>
              <a:rPr lang="zh-TW" altLang="en-US" dirty="0"/>
              <a:t> 不使用傳統的梅爾頻譜 </a:t>
            </a:r>
            <a:r>
              <a:rPr lang="en-US" altLang="zh-TW" dirty="0"/>
              <a:t>(Mel spectrograms) </a:t>
            </a:r>
            <a:r>
              <a:rPr lang="zh-TW" altLang="en-US" dirty="0"/>
              <a:t>。它直接將 </a:t>
            </a:r>
            <a:r>
              <a:rPr lang="en-US" altLang="zh-TW" dirty="0"/>
              <a:t>16,000 Hz </a:t>
            </a:r>
            <a:r>
              <a:rPr lang="zh-TW" altLang="en-US" dirty="0"/>
              <a:t>的原始音訊 ，通過三層 </a:t>
            </a:r>
            <a:r>
              <a:rPr lang="en-US" altLang="zh-TW" dirty="0"/>
              <a:t>Conv1D</a:t>
            </a:r>
            <a:r>
              <a:rPr lang="zh-TW" altLang="en-US" dirty="0"/>
              <a:t>（卷積層） 進行壓縮（總共 </a:t>
            </a:r>
            <a:r>
              <a:rPr lang="en-US" altLang="zh-TW" dirty="0"/>
              <a:t>384 </a:t>
            </a:r>
            <a:r>
              <a:rPr lang="zh-TW" altLang="en-US" dirty="0"/>
              <a:t>倍 ）和特徵提取。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Whisper (</a:t>
            </a:r>
            <a:r>
              <a:rPr lang="zh-TW" altLang="en-US" b="1" dirty="0"/>
              <a:t>論文對比</a:t>
            </a:r>
            <a:r>
              <a:rPr lang="en-US" altLang="zh-TW" b="1" dirty="0"/>
              <a:t>)</a:t>
            </a:r>
            <a:r>
              <a:rPr lang="zh-TW" altLang="en-US" b="1" dirty="0"/>
              <a:t>：</a:t>
            </a:r>
            <a:r>
              <a:rPr lang="zh-TW" altLang="en-US" dirty="0"/>
              <a:t> 依賴 </a:t>
            </a:r>
            <a:r>
              <a:rPr lang="en-US" altLang="zh-TW" dirty="0"/>
              <a:t>Mel spectrograms </a:t>
            </a:r>
            <a:r>
              <a:rPr lang="zh-TW" altLang="en-US" dirty="0"/>
              <a:t>進行特徵提取，然後再通過卷積層 。</a:t>
            </a:r>
          </a:p>
          <a:p>
            <a:r>
              <a:rPr lang="zh-TW" altLang="en-US" b="1" dirty="0"/>
              <a:t>位置嵌入 </a:t>
            </a:r>
            <a:r>
              <a:rPr lang="en-US" altLang="zh-TW" b="1" dirty="0"/>
              <a:t>(Positional Embedding) </a:t>
            </a:r>
            <a:r>
              <a:rPr lang="zh-TW" altLang="en-US" b="1" dirty="0"/>
              <a:t>的差異：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Moonshine (</a:t>
            </a:r>
            <a:r>
              <a:rPr lang="zh-TW" altLang="en-US" b="1" dirty="0"/>
              <a:t>如圖所示</a:t>
            </a:r>
            <a:r>
              <a:rPr lang="en-US" altLang="zh-TW" b="1" dirty="0"/>
              <a:t>)</a:t>
            </a:r>
            <a:r>
              <a:rPr lang="zh-TW" altLang="en-US" b="1" dirty="0"/>
              <a:t>：</a:t>
            </a:r>
            <a:r>
              <a:rPr lang="zh-TW" altLang="en-US" dirty="0"/>
              <a:t> 在 </a:t>
            </a:r>
            <a:r>
              <a:rPr lang="en-US" altLang="zh-TW" dirty="0"/>
              <a:t>Encoder Blocks </a:t>
            </a:r>
            <a:r>
              <a:rPr lang="zh-TW" altLang="en-US" dirty="0"/>
              <a:t>和 </a:t>
            </a:r>
            <a:r>
              <a:rPr lang="en-US" altLang="zh-TW" dirty="0"/>
              <a:t>Decoder Blocks </a:t>
            </a:r>
            <a:r>
              <a:rPr lang="zh-TW" altLang="en-US" dirty="0"/>
              <a:t>中都明確使用了 </a:t>
            </a:r>
            <a:r>
              <a:rPr lang="en-US" altLang="zh-TW" b="1" dirty="0" err="1"/>
              <a:t>RoPE</a:t>
            </a:r>
            <a:r>
              <a:rPr lang="en-US" altLang="zh-TW" b="1" dirty="0"/>
              <a:t> (Rotary Position Embeddings)</a:t>
            </a:r>
            <a:r>
              <a:rPr lang="en-US" altLang="zh-TW" dirty="0"/>
              <a:t> </a:t>
            </a:r>
            <a:r>
              <a:rPr lang="zh-TW" altLang="en-US" dirty="0"/>
              <a:t>。</a:t>
            </a:r>
            <a:r>
              <a:rPr lang="en-US" altLang="zh-TW" dirty="0" err="1"/>
              <a:t>RoPE</a:t>
            </a:r>
            <a:r>
              <a:rPr lang="en-US" altLang="zh-TW" dirty="0"/>
              <a:t> </a:t>
            </a:r>
            <a:r>
              <a:rPr lang="zh-TW" altLang="en-US" dirty="0"/>
              <a:t>是一種「相對」位置嵌入，讓模型能靈活處理不同長度的序列 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Whisper (</a:t>
            </a:r>
            <a:r>
              <a:rPr lang="zh-TW" altLang="en-US" b="1" dirty="0"/>
              <a:t>論文對比</a:t>
            </a:r>
            <a:r>
              <a:rPr lang="en-US" altLang="zh-TW" b="1" dirty="0"/>
              <a:t>)</a:t>
            </a:r>
            <a:r>
              <a:rPr lang="zh-TW" altLang="en-US" b="1" dirty="0"/>
              <a:t>：</a:t>
            </a:r>
            <a:r>
              <a:rPr lang="zh-TW" altLang="en-US" dirty="0"/>
              <a:t> 使用的是「絕對位置嵌入」 </a:t>
            </a:r>
            <a:r>
              <a:rPr lang="en-US" altLang="zh-TW" dirty="0"/>
              <a:t>(Absolute Position Embeddings) </a:t>
            </a:r>
            <a:r>
              <a:rPr lang="zh-TW" altLang="en-US" dirty="0"/>
              <a:t>。正是這種設計，導致 </a:t>
            </a:r>
            <a:r>
              <a:rPr lang="en-US" altLang="zh-TW" dirty="0"/>
              <a:t>Whisper </a:t>
            </a:r>
            <a:r>
              <a:rPr lang="zh-TW" altLang="en-US" dirty="0"/>
              <a:t>嚴重依賴固定的 </a:t>
            </a:r>
            <a:r>
              <a:rPr lang="en-US" altLang="zh-TW" dirty="0"/>
              <a:t>30 </a:t>
            </a:r>
            <a:r>
              <a:rPr lang="zh-TW" altLang="en-US" dirty="0"/>
              <a:t>秒音訊長度（如 </a:t>
            </a:r>
            <a:r>
              <a:rPr lang="en-US" altLang="zh-TW" dirty="0"/>
              <a:t>Figure 2 </a:t>
            </a:r>
            <a:r>
              <a:rPr lang="zh-TW" altLang="en-US" dirty="0"/>
              <a:t>所示），無法靈活處理可變長度輸入。</a:t>
            </a:r>
          </a:p>
          <a:p>
            <a:r>
              <a:rPr lang="zh-TW" altLang="en-US" b="1" dirty="0"/>
              <a:t>激活函數 </a:t>
            </a:r>
            <a:r>
              <a:rPr lang="en-US" altLang="zh-TW" b="1" dirty="0"/>
              <a:t>(Activation Function) </a:t>
            </a:r>
            <a:r>
              <a:rPr lang="zh-TW" altLang="en-US" b="1" dirty="0"/>
              <a:t>的差異：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Moonshine (</a:t>
            </a:r>
            <a:r>
              <a:rPr lang="zh-TW" altLang="en-US" b="1" dirty="0"/>
              <a:t>如圖所示</a:t>
            </a:r>
            <a:r>
              <a:rPr lang="en-US" altLang="zh-TW" b="1" dirty="0"/>
              <a:t>)</a:t>
            </a:r>
            <a:r>
              <a:rPr lang="zh-TW" altLang="en-US" b="1" dirty="0"/>
              <a:t>：</a:t>
            </a:r>
            <a:r>
              <a:rPr lang="zh-TW" altLang="en-US" dirty="0"/>
              <a:t> 在 </a:t>
            </a:r>
            <a:r>
              <a:rPr lang="en-US" altLang="zh-TW" dirty="0"/>
              <a:t>Decoder Blocks </a:t>
            </a:r>
            <a:r>
              <a:rPr lang="zh-TW" altLang="en-US" dirty="0"/>
              <a:t>的前饋網路 </a:t>
            </a:r>
            <a:r>
              <a:rPr lang="en-US" altLang="zh-TW" dirty="0"/>
              <a:t>(FFN) </a:t>
            </a:r>
            <a:r>
              <a:rPr lang="zh-TW" altLang="en-US" dirty="0"/>
              <a:t>中使用了 </a:t>
            </a:r>
            <a:r>
              <a:rPr lang="en-US" altLang="zh-TW" dirty="0"/>
              <a:t>FFN + </a:t>
            </a:r>
            <a:r>
              <a:rPr lang="en-US" altLang="zh-TW" dirty="0" err="1"/>
              <a:t>SwiGLU</a:t>
            </a:r>
            <a:r>
              <a:rPr lang="en-US" altLang="zh-TW" dirty="0"/>
              <a:t> </a:t>
            </a:r>
            <a:r>
              <a:rPr lang="zh-TW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/>
              <a:t>Whisper (</a:t>
            </a:r>
            <a:r>
              <a:rPr lang="zh-TW" altLang="en-US" dirty="0"/>
              <a:t>論文 </a:t>
            </a:r>
            <a:r>
              <a:rPr lang="en-US" altLang="zh-TW" dirty="0"/>
              <a:t>Table 1 )</a:t>
            </a:r>
            <a:r>
              <a:rPr lang="zh-TW" altLang="en-US" dirty="0"/>
              <a:t>： 在 </a:t>
            </a:r>
            <a:r>
              <a:rPr lang="en-US" altLang="zh-TW" dirty="0"/>
              <a:t>Decoder </a:t>
            </a:r>
            <a:r>
              <a:rPr lang="zh-TW" altLang="en-US" dirty="0"/>
              <a:t>的 </a:t>
            </a:r>
            <a:r>
              <a:rPr lang="en-US" altLang="zh-TW" dirty="0"/>
              <a:t>FFN </a:t>
            </a:r>
            <a:r>
              <a:rPr lang="zh-TW" altLang="en-US" dirty="0"/>
              <a:t>中使用的是 </a:t>
            </a:r>
            <a:r>
              <a:rPr lang="en-US" altLang="zh-TW" dirty="0"/>
              <a:t>GELU </a:t>
            </a:r>
            <a:r>
              <a:rPr lang="zh-TW" altLang="en-US" dirty="0"/>
              <a:t>。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4D97F-EC8D-4129-B8C2-2B6CBC1BF9B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0791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(Embedding + </a:t>
            </a:r>
            <a:r>
              <a:rPr lang="en-US" altLang="zh-TW" dirty="0" err="1"/>
              <a:t>Absolute_Position_Vector</a:t>
            </a:r>
            <a:r>
              <a:rPr lang="en-US" altLang="zh-TW" dirty="0"/>
              <a:t>) -&gt; </a:t>
            </a:r>
            <a:r>
              <a:rPr lang="zh-TW" altLang="en-US" dirty="0"/>
              <a:t>線性轉換 </a:t>
            </a:r>
            <a:r>
              <a:rPr lang="en-US" altLang="zh-TW" dirty="0"/>
              <a:t>-&gt; Q, K, V -&gt; </a:t>
            </a:r>
            <a:r>
              <a:rPr lang="zh-TW" altLang="en-US" dirty="0"/>
              <a:t>內積查詢 </a:t>
            </a:r>
            <a:r>
              <a:rPr lang="en-US" altLang="zh-TW" dirty="0"/>
              <a:t>-&gt; </a:t>
            </a:r>
            <a:r>
              <a:rPr lang="zh-TW" altLang="en-US" dirty="0"/>
              <a:t>加回 </a:t>
            </a:r>
            <a:r>
              <a:rPr lang="en-US" altLang="zh-TW" dirty="0"/>
              <a:t>V</a:t>
            </a:r>
          </a:p>
          <a:p>
            <a:r>
              <a:rPr lang="en-US" altLang="zh-TW" dirty="0"/>
              <a:t>Embedding -&gt; </a:t>
            </a:r>
            <a:r>
              <a:rPr lang="zh-TW" altLang="en-US" dirty="0"/>
              <a:t>線性轉換 </a:t>
            </a:r>
            <a:r>
              <a:rPr lang="en-US" altLang="zh-TW" dirty="0"/>
              <a:t>-&gt; Q, K, V -&gt; (Q * </a:t>
            </a:r>
            <a:r>
              <a:rPr lang="en-US" altLang="zh-TW" dirty="0" err="1"/>
              <a:t>RoPE</a:t>
            </a:r>
            <a:r>
              <a:rPr lang="en-US" altLang="zh-TW" dirty="0"/>
              <a:t>), (K * </a:t>
            </a:r>
            <a:r>
              <a:rPr lang="en-US" altLang="zh-TW" dirty="0" err="1"/>
              <a:t>RoPE</a:t>
            </a:r>
            <a:r>
              <a:rPr lang="en-US" altLang="zh-TW" dirty="0"/>
              <a:t>) -&gt; </a:t>
            </a:r>
            <a:r>
              <a:rPr lang="zh-TW" altLang="en-US" dirty="0"/>
              <a:t>內積查詢 </a:t>
            </a:r>
            <a:r>
              <a:rPr lang="en-US" altLang="zh-TW" dirty="0"/>
              <a:t>-&gt; </a:t>
            </a:r>
            <a:r>
              <a:rPr lang="zh-TW" altLang="en-US" dirty="0"/>
              <a:t>加回 </a:t>
            </a:r>
            <a:r>
              <a:rPr lang="en-US" altLang="zh-TW" dirty="0"/>
              <a:t>V</a:t>
            </a:r>
          </a:p>
          <a:p>
            <a:r>
              <a:rPr lang="zh-TW" altLang="en-US" dirty="0"/>
              <a:t>只會被相對位置影響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4D97F-EC8D-4129-B8C2-2B6CBC1BF9B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1438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第一部分是 </a:t>
            </a:r>
            <a:r>
              <a:rPr lang="en-US" altLang="zh-TW" dirty="0"/>
              <a:t>9 </a:t>
            </a:r>
            <a:r>
              <a:rPr lang="zh-TW" altLang="en-US" dirty="0"/>
              <a:t>萬小時的公開資料集。</a:t>
            </a:r>
          </a:p>
          <a:p>
            <a:r>
              <a:rPr lang="zh-TW" altLang="en-US" dirty="0"/>
              <a:t>如這張表格所示，他們使用了許多業界標準的語料庫，例如 </a:t>
            </a:r>
            <a:r>
              <a:rPr lang="en-US" altLang="zh-TW" dirty="0" err="1"/>
              <a:t>LibriSpeech</a:t>
            </a:r>
            <a:r>
              <a:rPr lang="zh-TW" altLang="en-US" dirty="0"/>
              <a:t>（有聲書）、</a:t>
            </a:r>
            <a:r>
              <a:rPr lang="en-US" altLang="zh-TW" dirty="0" err="1"/>
              <a:t>GigaSpeech</a:t>
            </a:r>
            <a:r>
              <a:rPr lang="zh-TW" altLang="en-US" dirty="0"/>
              <a:t>（多領域）、</a:t>
            </a:r>
            <a:r>
              <a:rPr lang="en-US" altLang="zh-TW" dirty="0"/>
              <a:t>AMI Corpus</a:t>
            </a:r>
            <a:r>
              <a:rPr lang="zh-TW" altLang="en-US" dirty="0"/>
              <a:t>（會議） 以及 </a:t>
            </a:r>
            <a:r>
              <a:rPr lang="en-US" altLang="zh-TW" dirty="0"/>
              <a:t>Common Voice </a:t>
            </a:r>
            <a:r>
              <a:rPr lang="zh-TW" altLang="en-US" dirty="0"/>
              <a:t>和 </a:t>
            </a:r>
            <a:r>
              <a:rPr lang="en-US" altLang="zh-TW" dirty="0"/>
              <a:t>People's Speech </a:t>
            </a:r>
            <a:r>
              <a:rPr lang="zh-TW" altLang="en-US" dirty="0"/>
              <a:t>等。</a:t>
            </a:r>
          </a:p>
          <a:p>
            <a:r>
              <a:rPr lang="zh-TW" altLang="en-US" dirty="0"/>
              <a:t>這 </a:t>
            </a:r>
            <a:r>
              <a:rPr lang="en-US" altLang="zh-TW" dirty="0"/>
              <a:t>9 </a:t>
            </a:r>
            <a:r>
              <a:rPr lang="zh-TW" altLang="en-US" dirty="0"/>
              <a:t>萬小時的資料為模型提供了一個高品質、多樣化的基礎。</a:t>
            </a:r>
          </a:p>
          <a:p>
            <a:endParaRPr lang="en-US" altLang="zh-TW" dirty="0"/>
          </a:p>
          <a:p>
            <a:r>
              <a:rPr lang="zh-TW" altLang="en-US" dirty="0"/>
              <a:t>他們額外收集和處理的超過 </a:t>
            </a:r>
            <a:r>
              <a:rPr lang="en-US" altLang="zh-TW" dirty="0"/>
              <a:t>10 </a:t>
            </a:r>
            <a:r>
              <a:rPr lang="zh-TW" altLang="en-US" dirty="0"/>
              <a:t>萬小時的網路資料。</a:t>
            </a:r>
          </a:p>
          <a:p>
            <a:r>
              <a:rPr lang="zh-TW" altLang="en-US" dirty="0"/>
              <a:t>從網路上收集資料最大的挑戰是</a:t>
            </a:r>
            <a:r>
              <a:rPr lang="zh-TW" altLang="en-US" b="1" dirty="0"/>
              <a:t>標籤品質不佳</a:t>
            </a:r>
            <a:r>
              <a:rPr lang="zh-TW" altLang="en-US" dirty="0"/>
              <a:t>或</a:t>
            </a:r>
            <a:r>
              <a:rPr lang="zh-TW" altLang="en-US" b="1" dirty="0"/>
              <a:t>根本沒有標籤</a:t>
            </a:r>
            <a:r>
              <a:rPr lang="zh-TW" altLang="en-US" dirty="0"/>
              <a:t>。</a:t>
            </a:r>
            <a:r>
              <a:rPr lang="en-US" altLang="zh-TW" dirty="0"/>
              <a:t>Moonshine </a:t>
            </a:r>
            <a:r>
              <a:rPr lang="zh-TW" altLang="en-US" dirty="0"/>
              <a:t>團隊使用了一個非常聰明的策略，他們利用 </a:t>
            </a:r>
            <a:r>
              <a:rPr lang="en-US" altLang="zh-TW" b="1" dirty="0"/>
              <a:t>Whisper large v3</a:t>
            </a:r>
            <a:r>
              <a:rPr lang="zh-TW" altLang="en-US" dirty="0"/>
              <a:t> 模型來輔助處理：</a:t>
            </a:r>
          </a:p>
          <a:p>
            <a:pPr>
              <a:buFont typeface="+mj-lt"/>
              <a:buAutoNum type="arabicPeriod"/>
            </a:pPr>
            <a:r>
              <a:rPr lang="zh-TW" altLang="en-US" b="1" dirty="0"/>
              <a:t>對於</a:t>
            </a:r>
            <a:r>
              <a:rPr lang="en-US" altLang="zh-TW" b="1" dirty="0"/>
              <a:t>『</a:t>
            </a:r>
            <a:r>
              <a:rPr lang="zh-TW" altLang="en-US" b="1" dirty="0"/>
              <a:t>有雜訊標籤</a:t>
            </a:r>
            <a:r>
              <a:rPr lang="en-US" altLang="zh-TW" b="1" dirty="0"/>
              <a:t>』</a:t>
            </a:r>
            <a:r>
              <a:rPr lang="zh-TW" altLang="en-US" b="1" dirty="0"/>
              <a:t>的語音</a:t>
            </a:r>
            <a:r>
              <a:rPr lang="zh-TW" altLang="en-US" dirty="0"/>
              <a:t>（例如網路字幕）：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TW" altLang="en-US" dirty="0"/>
              <a:t>他們讓 </a:t>
            </a:r>
            <a:r>
              <a:rPr lang="en-US" altLang="zh-TW" dirty="0"/>
              <a:t>Whisper v3 </a:t>
            </a:r>
            <a:r>
              <a:rPr lang="zh-TW" altLang="en-US" dirty="0"/>
              <a:t>也轉錄一次，產生</a:t>
            </a:r>
            <a:r>
              <a:rPr lang="en-US" altLang="zh-TW" dirty="0"/>
              <a:t>『</a:t>
            </a:r>
            <a:r>
              <a:rPr lang="zh-TW" altLang="en-US" dirty="0"/>
              <a:t>偽標籤</a:t>
            </a:r>
            <a:r>
              <a:rPr lang="en-US" altLang="zh-TW" dirty="0"/>
              <a:t>』</a:t>
            </a:r>
            <a:r>
              <a:rPr lang="zh-TW" altLang="en-US" dirty="0"/>
              <a:t>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TW" altLang="en-US" dirty="0"/>
              <a:t>然後比較</a:t>
            </a:r>
            <a:r>
              <a:rPr lang="en-US" altLang="zh-TW" dirty="0"/>
              <a:t>『</a:t>
            </a:r>
            <a:r>
              <a:rPr lang="zh-TW" altLang="en-US" dirty="0"/>
              <a:t>網路字幕</a:t>
            </a:r>
            <a:r>
              <a:rPr lang="en-US" altLang="zh-TW" dirty="0"/>
              <a:t>』</a:t>
            </a:r>
            <a:r>
              <a:rPr lang="zh-TW" altLang="en-US" dirty="0"/>
              <a:t>和</a:t>
            </a:r>
            <a:r>
              <a:rPr lang="en-US" altLang="zh-TW" dirty="0"/>
              <a:t>『</a:t>
            </a:r>
            <a:r>
              <a:rPr lang="zh-TW" altLang="en-US" dirty="0"/>
              <a:t>偽標籤</a:t>
            </a:r>
            <a:r>
              <a:rPr lang="en-US" altLang="zh-TW" dirty="0"/>
              <a:t>』</a:t>
            </a:r>
            <a:r>
              <a:rPr lang="zh-TW" altLang="en-US" dirty="0"/>
              <a:t>的</a:t>
            </a:r>
            <a:r>
              <a:rPr lang="zh-TW" altLang="en-US" b="1" dirty="0"/>
              <a:t>相似度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err="1"/>
              <a:t>Levenshtein</a:t>
            </a:r>
            <a:r>
              <a:rPr lang="en-US" altLang="zh-TW" dirty="0"/>
              <a:t> </a:t>
            </a:r>
            <a:r>
              <a:rPr lang="zh-TW" altLang="en-US" dirty="0"/>
              <a:t>距離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TW" altLang="en-US" dirty="0"/>
              <a:t>如果兩者差異太大，就</a:t>
            </a:r>
            <a:r>
              <a:rPr lang="zh-TW" altLang="en-US" b="1" dirty="0"/>
              <a:t>丟棄</a:t>
            </a:r>
            <a:r>
              <a:rPr lang="zh-TW" altLang="en-US" dirty="0"/>
              <a:t>這筆資料，只保留高品質的人工標籤。</a:t>
            </a:r>
          </a:p>
          <a:p>
            <a:pPr>
              <a:buFont typeface="+mj-lt"/>
              <a:buAutoNum type="arabicPeriod"/>
            </a:pPr>
            <a:r>
              <a:rPr lang="zh-TW" altLang="en-US" b="1" dirty="0"/>
              <a:t>對於</a:t>
            </a:r>
            <a:r>
              <a:rPr lang="en-US" altLang="zh-TW" b="1" dirty="0"/>
              <a:t>『</a:t>
            </a:r>
            <a:r>
              <a:rPr lang="zh-TW" altLang="en-US" b="1" dirty="0"/>
              <a:t>無標籤</a:t>
            </a:r>
            <a:r>
              <a:rPr lang="en-US" altLang="zh-TW" b="1" dirty="0"/>
              <a:t>』</a:t>
            </a:r>
            <a:r>
              <a:rPr lang="zh-TW" altLang="en-US" b="1" dirty="0"/>
              <a:t>的語音</a:t>
            </a:r>
            <a:r>
              <a:rPr lang="zh-TW" altLang="en-US" dirty="0"/>
              <a:t>（佔大多數）：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TW" altLang="en-US" dirty="0"/>
              <a:t>他們直接用 </a:t>
            </a:r>
            <a:r>
              <a:rPr lang="en-US" altLang="zh-TW" dirty="0"/>
              <a:t>Whisper v3 </a:t>
            </a:r>
            <a:r>
              <a:rPr lang="zh-TW" altLang="en-US" dirty="0"/>
              <a:t>產生</a:t>
            </a:r>
            <a:r>
              <a:rPr lang="en-US" altLang="zh-TW" dirty="0"/>
              <a:t>『</a:t>
            </a:r>
            <a:r>
              <a:rPr lang="zh-TW" altLang="en-US" dirty="0"/>
              <a:t>偽標籤</a:t>
            </a:r>
            <a:r>
              <a:rPr lang="en-US" altLang="zh-TW" dirty="0"/>
              <a:t>』</a:t>
            </a:r>
            <a:r>
              <a:rPr lang="zh-TW" altLang="en-US" dirty="0"/>
              <a:t>來當作訓練目標。</a:t>
            </a:r>
          </a:p>
          <a:p>
            <a:r>
              <a:rPr lang="zh-TW" altLang="en-US" dirty="0"/>
              <a:t>結合了</a:t>
            </a:r>
            <a:r>
              <a:rPr lang="en-US" altLang="zh-TW" dirty="0"/>
              <a:t>『</a:t>
            </a:r>
            <a:r>
              <a:rPr lang="zh-TW" altLang="en-US" dirty="0"/>
              <a:t>公開資料集</a:t>
            </a:r>
            <a:r>
              <a:rPr lang="en-US" altLang="zh-TW" dirty="0"/>
              <a:t>』</a:t>
            </a:r>
            <a:r>
              <a:rPr lang="zh-TW" altLang="en-US" dirty="0"/>
              <a:t>和</a:t>
            </a:r>
            <a:r>
              <a:rPr lang="en-US" altLang="zh-TW" dirty="0"/>
              <a:t>『</a:t>
            </a:r>
            <a:r>
              <a:rPr lang="zh-TW" altLang="en-US" dirty="0"/>
              <a:t>內部資料集</a:t>
            </a:r>
            <a:r>
              <a:rPr lang="en-US" altLang="zh-TW" dirty="0"/>
              <a:t>』</a:t>
            </a:r>
            <a:r>
              <a:rPr lang="zh-TW" altLang="en-US" dirty="0"/>
              <a:t>後，他們進行了最關鍵的一步：</a:t>
            </a:r>
            <a:r>
              <a:rPr lang="zh-TW" altLang="en-US" b="1" dirty="0"/>
              <a:t>控制音訊長度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為了訓練一個</a:t>
            </a:r>
            <a:r>
              <a:rPr lang="en-US" altLang="zh-TW" dirty="0"/>
              <a:t>『</a:t>
            </a:r>
            <a:r>
              <a:rPr lang="zh-TW" altLang="en-US" dirty="0"/>
              <a:t>可變長度</a:t>
            </a:r>
            <a:r>
              <a:rPr lang="en-US" altLang="zh-TW" dirty="0"/>
              <a:t>』</a:t>
            </a:r>
            <a:r>
              <a:rPr lang="zh-TW" altLang="en-US" dirty="0"/>
              <a:t>的模型，他們不能像 </a:t>
            </a:r>
            <a:r>
              <a:rPr lang="en-US" altLang="zh-TW" dirty="0"/>
              <a:t>Whisper </a:t>
            </a:r>
            <a:r>
              <a:rPr lang="zh-TW" altLang="en-US" dirty="0"/>
              <a:t>那樣全部填充到 </a:t>
            </a:r>
            <a:r>
              <a:rPr lang="en-US" altLang="zh-TW" dirty="0"/>
              <a:t>30 </a:t>
            </a:r>
            <a:r>
              <a:rPr lang="zh-TW" altLang="en-US" dirty="0"/>
              <a:t>秒。相反地，他們將所有音訊片段組裝成 </a:t>
            </a:r>
            <a:r>
              <a:rPr lang="en-US" altLang="zh-TW" b="1" dirty="0"/>
              <a:t>4 </a:t>
            </a:r>
            <a:r>
              <a:rPr lang="zh-TW" altLang="en-US" b="1" dirty="0"/>
              <a:t>秒到 </a:t>
            </a:r>
            <a:r>
              <a:rPr lang="en-US" altLang="zh-TW" b="1" dirty="0"/>
              <a:t>30 </a:t>
            </a:r>
            <a:r>
              <a:rPr lang="zh-TW" altLang="en-US" b="1" dirty="0"/>
              <a:t>秒</a:t>
            </a:r>
            <a:r>
              <a:rPr lang="zh-TW" altLang="en-US" dirty="0"/>
              <a:t> 之間不等的訓練實例。</a:t>
            </a:r>
          </a:p>
          <a:p>
            <a:r>
              <a:rPr lang="zh-TW" altLang="en-US" dirty="0"/>
              <a:t>而</a:t>
            </a:r>
            <a:r>
              <a:rPr lang="zh-TW" altLang="en-US" b="1" dirty="0"/>
              <a:t>這張 </a:t>
            </a:r>
            <a:r>
              <a:rPr lang="en-US" altLang="zh-TW" b="1" dirty="0"/>
              <a:t>Figure 4</a:t>
            </a:r>
            <a:r>
              <a:rPr lang="zh-TW" altLang="en-US" dirty="0"/>
              <a:t>，就向我們展示了這 </a:t>
            </a:r>
            <a:r>
              <a:rPr lang="en-US" altLang="zh-TW" dirty="0"/>
              <a:t>20 </a:t>
            </a:r>
            <a:r>
              <a:rPr lang="zh-TW" altLang="en-US" dirty="0"/>
              <a:t>萬小時資料</a:t>
            </a:r>
            <a:r>
              <a:rPr lang="zh-TW" altLang="en-US" b="1" dirty="0"/>
              <a:t>最終的長度分佈</a:t>
            </a:r>
            <a:r>
              <a:rPr lang="zh-TW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X </a:t>
            </a:r>
            <a:r>
              <a:rPr lang="zh-TW" altLang="en-US" b="1" dirty="0"/>
              <a:t>軸</a:t>
            </a:r>
            <a:r>
              <a:rPr lang="zh-TW" altLang="en-US" dirty="0"/>
              <a:t>是音訊時長（秒），從 </a:t>
            </a:r>
            <a:r>
              <a:rPr lang="en-US" altLang="zh-TW" dirty="0"/>
              <a:t>0 </a:t>
            </a:r>
            <a:r>
              <a:rPr lang="zh-TW" altLang="en-US" dirty="0"/>
              <a:t>到 </a:t>
            </a:r>
            <a:r>
              <a:rPr lang="en-US" altLang="zh-TW" dirty="0"/>
              <a:t>30</a:t>
            </a:r>
            <a:r>
              <a:rPr lang="zh-TW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Y </a:t>
            </a:r>
            <a:r>
              <a:rPr lang="zh-TW" altLang="en-US" b="1" dirty="0"/>
              <a:t>軸</a:t>
            </a:r>
            <a:r>
              <a:rPr lang="zh-TW" altLang="en-US" dirty="0"/>
              <a:t>是資料頻率（百分比）。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4D97F-EC8D-4129-B8C2-2B6CBC1BF9B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5488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論文作者證明了 </a:t>
            </a:r>
            <a:r>
              <a:rPr lang="en-US" altLang="zh-TW" dirty="0"/>
              <a:t>Moonshine </a:t>
            </a:r>
            <a:r>
              <a:rPr lang="zh-TW" altLang="en-US" dirty="0"/>
              <a:t>不僅在延遲和效率上（如前所述）有優勢，在</a:t>
            </a:r>
            <a:r>
              <a:rPr lang="zh-TW" altLang="en-US" b="1" dirty="0"/>
              <a:t>整體的平均準確性上，也達到了與 </a:t>
            </a:r>
            <a:r>
              <a:rPr lang="en-US" altLang="zh-TW" b="1" dirty="0"/>
              <a:t>Whisper </a:t>
            </a:r>
            <a:r>
              <a:rPr lang="zh-TW" altLang="en-US" b="1" dirty="0"/>
              <a:t>相當，甚至略微更好的水準</a:t>
            </a:r>
            <a:r>
              <a:rPr lang="zh-TW" altLang="en-US" dirty="0"/>
              <a:t> 。</a:t>
            </a:r>
            <a:endParaRPr lang="en-US" altLang="zh-TW" dirty="0"/>
          </a:p>
          <a:p>
            <a:r>
              <a:rPr lang="en-US" altLang="zh-TW" b="1" dirty="0"/>
              <a:t>Earnings22</a:t>
            </a:r>
            <a:r>
              <a:rPr lang="en-US" altLang="zh-TW" dirty="0"/>
              <a:t> </a:t>
            </a:r>
            <a:r>
              <a:rPr lang="zh-TW" altLang="en-US" dirty="0"/>
              <a:t>這個資料集上，無論是 </a:t>
            </a:r>
            <a:r>
              <a:rPr lang="en-US" altLang="zh-TW" dirty="0"/>
              <a:t>Base </a:t>
            </a:r>
            <a:r>
              <a:rPr lang="zh-TW" altLang="en-US" dirty="0"/>
              <a:t>還是 </a:t>
            </a:r>
            <a:r>
              <a:rPr lang="en-US" altLang="zh-TW" dirty="0"/>
              <a:t>Tiny </a:t>
            </a:r>
            <a:r>
              <a:rPr lang="zh-TW" altLang="en-US" dirty="0"/>
              <a:t>模型，</a:t>
            </a:r>
            <a:r>
              <a:rPr lang="en-US" altLang="zh-TW" dirty="0"/>
              <a:t>Moonshine </a:t>
            </a:r>
            <a:r>
              <a:rPr lang="zh-TW" altLang="en-US" dirty="0"/>
              <a:t>的錯誤率都</a:t>
            </a:r>
            <a:r>
              <a:rPr lang="zh-TW" altLang="en-US" b="1" dirty="0"/>
              <a:t>明顯高於</a:t>
            </a:r>
            <a:r>
              <a:rPr lang="zh-TW" altLang="en-US" dirty="0"/>
              <a:t> </a:t>
            </a:r>
            <a:r>
              <a:rPr lang="en-US" altLang="zh-TW" dirty="0"/>
              <a:t>Whisper </a:t>
            </a:r>
            <a:r>
              <a:rPr lang="zh-TW" altLang="en-US" dirty="0"/>
              <a:t>。</a:t>
            </a:r>
          </a:p>
          <a:p>
            <a:pPr>
              <a:buFont typeface="+mj-lt"/>
              <a:buAutoNum type="arabicPeriod"/>
            </a:pPr>
            <a:r>
              <a:rPr lang="zh-TW" altLang="en-US" b="1" dirty="0"/>
              <a:t>資料特性：</a:t>
            </a:r>
            <a:r>
              <a:rPr lang="zh-TW" altLang="en-US" dirty="0"/>
              <a:t> </a:t>
            </a:r>
            <a:r>
              <a:rPr lang="en-US" altLang="zh-TW" dirty="0"/>
              <a:t>Earnings22 </a:t>
            </a:r>
            <a:r>
              <a:rPr lang="zh-TW" altLang="en-US" dirty="0"/>
              <a:t>資料集中有 </a:t>
            </a:r>
            <a:r>
              <a:rPr lang="en-US" altLang="zh-TW" dirty="0"/>
              <a:t>8% </a:t>
            </a:r>
            <a:r>
              <a:rPr lang="zh-TW" altLang="en-US" dirty="0"/>
              <a:t>的樣本是</a:t>
            </a:r>
            <a:r>
              <a:rPr lang="zh-TW" altLang="en-US" b="1" dirty="0"/>
              <a:t>長度小於 </a:t>
            </a:r>
            <a:r>
              <a:rPr lang="en-US" altLang="zh-TW" b="1" dirty="0"/>
              <a:t>1 </a:t>
            </a:r>
            <a:r>
              <a:rPr lang="zh-TW" altLang="en-US" b="1" dirty="0"/>
              <a:t>秒</a:t>
            </a:r>
            <a:r>
              <a:rPr lang="zh-TW" altLang="en-US" dirty="0"/>
              <a:t>的極短音訊（例如 </a:t>
            </a:r>
            <a:r>
              <a:rPr lang="en-US" altLang="zh-TW" dirty="0"/>
              <a:t>"Yes." </a:t>
            </a:r>
            <a:r>
              <a:rPr lang="zh-TW" altLang="en-US" dirty="0"/>
              <a:t>或 </a:t>
            </a:r>
            <a:r>
              <a:rPr lang="en-US" altLang="zh-TW" dirty="0"/>
              <a:t>"Okay."</a:t>
            </a:r>
            <a:r>
              <a:rPr lang="zh-TW" altLang="en-US" dirty="0"/>
              <a:t>）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4D97F-EC8D-4129-B8C2-2B6CBC1BF9B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4945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4D97F-EC8D-4129-B8C2-2B6CBC1BF9B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8273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遇到的情況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: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載入預訓練的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processor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時，發現其內部的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tokenizer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預設沒有設定 </a:t>
            </a:r>
            <a:r>
              <a:rPr lang="en-US" altLang="zh-TW" b="0" i="0" dirty="0" err="1">
                <a:solidFill>
                  <a:srgbClr val="1B1C1D"/>
                </a:solidFill>
                <a:effectLst/>
                <a:latin typeface="Google Sans Flex"/>
              </a:rPr>
              <a:t>pad_token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（</a:t>
            </a:r>
            <a:r>
              <a:rPr lang="en-US" altLang="zh-TW" b="0" i="0" dirty="0" err="1">
                <a:solidFill>
                  <a:srgbClr val="1B1C1D"/>
                </a:solidFill>
                <a:effectLst/>
                <a:latin typeface="Google Sans Flex"/>
              </a:rPr>
              <a:t>pad_token_id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為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None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），且也沒有設定 </a:t>
            </a:r>
            <a:r>
              <a:rPr lang="en-US" altLang="zh-TW" b="0" i="0" dirty="0" err="1">
                <a:solidFill>
                  <a:srgbClr val="1B1C1D"/>
                </a:solidFill>
                <a:effectLst/>
                <a:latin typeface="Google Sans Flex"/>
              </a:rPr>
              <a:t>eos_token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（</a:t>
            </a:r>
            <a:r>
              <a:rPr lang="en-US" altLang="zh-TW" b="0" i="0" dirty="0" err="1">
                <a:solidFill>
                  <a:srgbClr val="1B1C1D"/>
                </a:solidFill>
                <a:effectLst/>
                <a:latin typeface="Google Sans Flex"/>
              </a:rPr>
              <a:t>eos_token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和 </a:t>
            </a:r>
            <a:r>
              <a:rPr lang="en-US" altLang="zh-TW" b="0" i="0" dirty="0" err="1">
                <a:solidFill>
                  <a:srgbClr val="1B1C1D"/>
                </a:solidFill>
                <a:effectLst/>
                <a:latin typeface="Google Sans Flex"/>
              </a:rPr>
              <a:t>eos_token_id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均為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None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）。然而，載入的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model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本身的配置中卻有 </a:t>
            </a:r>
            <a:r>
              <a:rPr lang="en-US" altLang="zh-TW" b="0" i="0" dirty="0" err="1">
                <a:solidFill>
                  <a:srgbClr val="1B1C1D"/>
                </a:solidFill>
                <a:effectLst/>
                <a:latin typeface="Google Sans Flex"/>
              </a:rPr>
              <a:t>eos_token_id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 = 2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。</a:t>
            </a:r>
          </a:p>
          <a:p>
            <a:pPr algn="l"/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問題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: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這種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tokenizer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和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model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關於 </a:t>
            </a:r>
            <a:r>
              <a:rPr lang="en-US" altLang="zh-TW" b="0" i="0" dirty="0" err="1">
                <a:solidFill>
                  <a:srgbClr val="1B1C1D"/>
                </a:solidFill>
                <a:effectLst/>
                <a:latin typeface="Google Sans Flex"/>
              </a:rPr>
              <a:t>eos_token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的不同步會導致 </a:t>
            </a:r>
            <a:r>
              <a:rPr lang="en-US" altLang="zh-TW" b="0" i="0" dirty="0" err="1">
                <a:solidFill>
                  <a:srgbClr val="1B1C1D"/>
                </a:solidFill>
                <a:effectLst/>
                <a:latin typeface="Google Sans Flex"/>
              </a:rPr>
              <a:t>DataCollator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在準備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labels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（目標答案）時，無法在句尾加上正確的結束符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(&lt;/s&gt;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，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ID 2)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。這使得模型在訓練時永遠看不到「結束」的訊號，從而學不會停止生成。</a:t>
            </a:r>
          </a:p>
          <a:p>
            <a:pPr algn="l"/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解決方案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1 -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同步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EOS: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程式碼中手動設定 </a:t>
            </a:r>
            <a:r>
              <a:rPr lang="en-US" altLang="zh-TW" b="0" i="0" dirty="0" err="1">
                <a:solidFill>
                  <a:srgbClr val="1B1C1D"/>
                </a:solidFill>
                <a:effectLst/>
                <a:latin typeface="Google Sans Flex"/>
              </a:rPr>
              <a:t>tokenizer.eos_token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 = '&lt;/s&gt;'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。這會讓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tokenizer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知道結束符是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&lt;/s&gt;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，並自動將其 </a:t>
            </a:r>
            <a:r>
              <a:rPr lang="en-US" altLang="zh-TW" b="0" i="0" dirty="0" err="1">
                <a:solidFill>
                  <a:srgbClr val="1B1C1D"/>
                </a:solidFill>
                <a:effectLst/>
                <a:latin typeface="Google Sans Flex"/>
              </a:rPr>
              <a:t>eos_token_id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更新為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2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，使其與模型的設定保持一致。</a:t>
            </a:r>
          </a:p>
          <a:p>
            <a:pPr algn="l"/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解決方案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2 -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新增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PAD: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由於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tokenizer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缺少獨立的 </a:t>
            </a:r>
            <a:r>
              <a:rPr lang="en-US" altLang="zh-TW" b="0" i="0" dirty="0" err="1">
                <a:solidFill>
                  <a:srgbClr val="1B1C1D"/>
                </a:solidFill>
                <a:effectLst/>
                <a:latin typeface="Google Sans Flex"/>
              </a:rPr>
              <a:t>pad_token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，程式碼接著手動新增了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[PAD]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作為一個新的特殊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token</a:t>
            </a:r>
          </a:p>
          <a:p>
            <a:endParaRPr lang="en-US" altLang="zh-TW" dirty="0"/>
          </a:p>
          <a:p>
            <a:r>
              <a:rPr lang="zh-TW" altLang="en-US" dirty="0"/>
              <a:t>在 </a:t>
            </a:r>
            <a:r>
              <a:rPr lang="en-US" altLang="zh-TW" dirty="0" err="1"/>
              <a:t>DataCollator</a:t>
            </a:r>
            <a:r>
              <a:rPr lang="en-US" altLang="zh-TW" dirty="0"/>
              <a:t> </a:t>
            </a:r>
            <a:r>
              <a:rPr lang="zh-TW" altLang="en-US" dirty="0"/>
              <a:t>中，將 </a:t>
            </a:r>
            <a:r>
              <a:rPr lang="en-US" altLang="zh-TW" dirty="0" err="1"/>
              <a:t>pad_token_id</a:t>
            </a:r>
            <a:r>
              <a:rPr lang="en-US" altLang="zh-TW" dirty="0"/>
              <a:t> (</a:t>
            </a:r>
            <a:r>
              <a:rPr lang="zh-TW" altLang="en-US" dirty="0"/>
              <a:t>例如 </a:t>
            </a:r>
            <a:r>
              <a:rPr lang="en-US" altLang="zh-TW" dirty="0"/>
              <a:t>[PAD] </a:t>
            </a:r>
            <a:r>
              <a:rPr lang="zh-TW" altLang="en-US" dirty="0"/>
              <a:t>的 </a:t>
            </a:r>
            <a:r>
              <a:rPr lang="en-US" altLang="zh-TW" dirty="0"/>
              <a:t>ID) </a:t>
            </a:r>
            <a:r>
              <a:rPr lang="zh-TW" altLang="en-US" dirty="0"/>
              <a:t>對應的標籤 </a:t>
            </a:r>
            <a:r>
              <a:rPr lang="en-US" altLang="zh-TW" dirty="0"/>
              <a:t>ID </a:t>
            </a:r>
            <a:r>
              <a:rPr lang="zh-TW" altLang="en-US" dirty="0"/>
              <a:t>替換為 </a:t>
            </a:r>
            <a:r>
              <a:rPr lang="en-US" altLang="zh-TW" dirty="0"/>
              <a:t>-100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4D97F-EC8D-4129-B8C2-2B6CBC1BF9BE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233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輸入：</a:t>
            </a:r>
          </a:p>
          <a:p>
            <a:pPr algn="l"/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Encoder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： 接收音訊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(</a:t>
            </a:r>
            <a:r>
              <a:rPr lang="en-US" altLang="zh-TW" b="0" i="0" dirty="0" err="1">
                <a:solidFill>
                  <a:srgbClr val="1B1C1D"/>
                </a:solidFill>
                <a:effectLst/>
                <a:latin typeface="Google Sans Flex"/>
              </a:rPr>
              <a:t>input_values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)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。</a:t>
            </a:r>
          </a:p>
          <a:p>
            <a:pPr algn="l"/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Decoder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： 接收「標準答案」的文字稿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(labels)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，但在內部會將其向右平移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(shift right)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作為 </a:t>
            </a:r>
            <a:r>
              <a:rPr lang="en-US" altLang="zh-TW" b="0" i="0" dirty="0" err="1">
                <a:solidFill>
                  <a:srgbClr val="1B1C1D"/>
                </a:solidFill>
                <a:effectLst/>
                <a:latin typeface="Google Sans Flex"/>
              </a:rPr>
              <a:t>decoder_input_ids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（例如，輸入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"</a:t>
            </a:r>
            <a:r>
              <a:rPr lang="en-US" altLang="zh-TW" b="0" i="0" dirty="0" err="1">
                <a:solidFill>
                  <a:srgbClr val="1B1C1D"/>
                </a:solidFill>
                <a:effectLst/>
                <a:latin typeface="Google Sans Flex"/>
              </a:rPr>
              <a:t>i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 am"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來預測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"am good"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）。</a:t>
            </a:r>
          </a:p>
          <a:p>
            <a:pPr algn="l"/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輸出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(Logits)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：</a:t>
            </a:r>
          </a:p>
          <a:p>
            <a:pPr algn="l"/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Decoder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在每一個位置上，都會輸出一個非常長的向量，稱為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Logits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。</a:t>
            </a:r>
          </a:p>
          <a:p>
            <a:pPr algn="l"/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這個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Logits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向量的維度等於您的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tokenizer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詞彙表大小（例如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32,000+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）。</a:t>
            </a:r>
          </a:p>
          <a:p>
            <a:pPr algn="l"/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這個向量代表模型預測在該位置上，詞彙表中每一個 </a:t>
            </a:r>
            <a:r>
              <a:rPr lang="en-US" altLang="zh-TW" b="0" i="0" dirty="0">
                <a:solidFill>
                  <a:srgbClr val="1B1C1D"/>
                </a:solidFill>
                <a:effectLst/>
                <a:latin typeface="Google Sans Flex"/>
              </a:rPr>
              <a:t>token </a:t>
            </a:r>
            <a:r>
              <a:rPr lang="zh-TW" altLang="en-US" b="0" i="0" dirty="0">
                <a:solidFill>
                  <a:srgbClr val="1B1C1D"/>
                </a:solidFill>
                <a:effectLst/>
                <a:latin typeface="Google Sans Flex"/>
              </a:rPr>
              <a:t>出現的原始分數。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4D97F-EC8D-4129-B8C2-2B6CBC1BF9BE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3104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4D97F-EC8D-4129-B8C2-2B6CBC1BF9BE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6177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83</a:t>
            </a:r>
            <a:r>
              <a:rPr lang="zh-TW" altLang="en-US" dirty="0"/>
              <a:t>個最糟的有</a:t>
            </a:r>
            <a:r>
              <a:rPr lang="en-US" altLang="zh-TW" dirty="0"/>
              <a:t>14</a:t>
            </a:r>
            <a:r>
              <a:rPr lang="zh-TW" altLang="en-US" dirty="0"/>
              <a:t>個屬於同一人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4D97F-EC8D-4129-B8C2-2B6CBC1BF9BE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62785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/>
              <a:t>1. </a:t>
            </a:r>
            <a:r>
              <a:rPr lang="zh-TW" altLang="en-US" b="1" dirty="0"/>
              <a:t>使用絕對位置進行「旋轉」</a:t>
            </a:r>
          </a:p>
          <a:p>
            <a:r>
              <a:rPr lang="en-US" altLang="zh-TW" dirty="0" err="1"/>
              <a:t>RoPE</a:t>
            </a:r>
            <a:r>
              <a:rPr lang="en-US" altLang="zh-TW" dirty="0"/>
              <a:t> </a:t>
            </a:r>
            <a:r>
              <a:rPr lang="zh-TW" altLang="en-US" dirty="0"/>
              <a:t>是將 </a:t>
            </a:r>
            <a:r>
              <a:rPr lang="en-US" altLang="zh-TW" dirty="0"/>
              <a:t>Query (Q) </a:t>
            </a:r>
            <a:r>
              <a:rPr lang="zh-TW" altLang="en-US" dirty="0"/>
              <a:t>和 </a:t>
            </a:r>
            <a:r>
              <a:rPr lang="en-US" altLang="zh-TW" dirty="0"/>
              <a:t>Key (K) </a:t>
            </a:r>
            <a:r>
              <a:rPr lang="zh-TW" altLang="en-US" dirty="0"/>
              <a:t>向量視為複數域中的向量。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如果我們把位於位置 </a:t>
            </a:r>
            <a:r>
              <a:rPr lang="en-US" altLang="zh-TW" dirty="0"/>
              <a:t>m </a:t>
            </a:r>
            <a:r>
              <a:rPr lang="zh-TW" altLang="en-US" dirty="0"/>
              <a:t>的 </a:t>
            </a:r>
            <a:r>
              <a:rPr lang="en-US" altLang="zh-TW" dirty="0"/>
              <a:t>Q </a:t>
            </a:r>
            <a:r>
              <a:rPr lang="zh-TW" altLang="en-US" dirty="0"/>
              <a:t>向量 </a:t>
            </a:r>
            <a:r>
              <a:rPr lang="en-US" altLang="zh-TW" dirty="0" err="1"/>
              <a:t>q_m</a:t>
            </a:r>
            <a:r>
              <a:rPr lang="en-US" altLang="zh-TW" dirty="0"/>
              <a:t> </a:t>
            </a:r>
            <a:r>
              <a:rPr lang="zh-TW" altLang="en-US" dirty="0"/>
              <a:t>和位於位置 </a:t>
            </a:r>
            <a:r>
              <a:rPr lang="en-US" altLang="zh-TW" dirty="0"/>
              <a:t>n </a:t>
            </a:r>
            <a:r>
              <a:rPr lang="zh-TW" altLang="en-US" dirty="0"/>
              <a:t>的 </a:t>
            </a:r>
            <a:r>
              <a:rPr lang="en-US" altLang="zh-TW" dirty="0"/>
              <a:t>K</a:t>
            </a:r>
            <a:r>
              <a:rPr lang="zh-TW" altLang="en-US" dirty="0"/>
              <a:t>向量 </a:t>
            </a:r>
            <a:r>
              <a:rPr lang="en-US" altLang="zh-TW" dirty="0" err="1"/>
              <a:t>k_n</a:t>
            </a:r>
            <a:r>
              <a:rPr lang="en-US" altLang="zh-TW" dirty="0"/>
              <a:t> </a:t>
            </a:r>
            <a:r>
              <a:rPr lang="zh-TW" altLang="en-US" dirty="0"/>
              <a:t>分別乘上旋轉因子 </a:t>
            </a:r>
            <a:r>
              <a:rPr lang="en-US" altLang="zh-TW" dirty="0"/>
              <a:t>e^{</a:t>
            </a:r>
            <a:r>
              <a:rPr lang="en-US" altLang="zh-TW" dirty="0" err="1"/>
              <a:t>im</a:t>
            </a:r>
            <a:r>
              <a:rPr lang="en-US" altLang="zh-TW" dirty="0"/>
              <a:t>\theta}</a:t>
            </a:r>
            <a:r>
              <a:rPr lang="zh-TW" altLang="en-US" dirty="0"/>
              <a:t>和 </a:t>
            </a:r>
            <a:r>
              <a:rPr lang="en-US" altLang="zh-TW" dirty="0"/>
              <a:t>e^{in\theta}</a:t>
            </a:r>
            <a:r>
              <a:rPr lang="zh-TW" altLang="en-US" dirty="0"/>
              <a:t>，這兩個因子就</a:t>
            </a:r>
            <a:r>
              <a:rPr lang="zh-TW" altLang="en-US" b="1" dirty="0"/>
              <a:t>被視為透過 </a:t>
            </a:r>
            <a:r>
              <a:rPr lang="en-US" altLang="zh-TW" b="1" dirty="0"/>
              <a:t>m$ </a:t>
            </a:r>
            <a:r>
              <a:rPr lang="zh-TW" altLang="en-US" b="1" dirty="0"/>
              <a:t>和 </a:t>
            </a:r>
            <a:r>
              <a:rPr lang="en-US" altLang="zh-TW" b="1" dirty="0"/>
              <a:t>$n$ </a:t>
            </a:r>
            <a:r>
              <a:rPr lang="zh-TW" altLang="en-US" b="1" dirty="0"/>
              <a:t>加入了位置的資訊</a:t>
            </a:r>
            <a:r>
              <a:rPr lang="zh-TW" altLang="en-US" dirty="0"/>
              <a:t>。 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dirty="0"/>
              <a:t>在複數平面上，這 </a:t>
            </a:r>
            <a:r>
              <a:rPr lang="en-US" altLang="zh-TW" dirty="0"/>
              <a:t>$e^{</a:t>
            </a:r>
            <a:r>
              <a:rPr lang="en-US" altLang="zh-TW" dirty="0" err="1"/>
              <a:t>im</a:t>
            </a:r>
            <a:r>
              <a:rPr lang="en-US" altLang="zh-TW" dirty="0"/>
              <a:t>\theta}$ </a:t>
            </a:r>
            <a:r>
              <a:rPr lang="zh-TW" altLang="en-US" dirty="0"/>
              <a:t>便是對向量施加了一個</a:t>
            </a:r>
            <a:r>
              <a:rPr lang="zh-TW" altLang="en-US" b="1" dirty="0"/>
              <a:t>旋轉</a:t>
            </a:r>
            <a:r>
              <a:rPr lang="zh-TW" altLang="en-US" dirty="0"/>
              <a:t>。</a:t>
            </a:r>
            <a:endParaRPr lang="en-US" altLang="zh-TW" dirty="0"/>
          </a:p>
          <a:p>
            <a:pPr>
              <a:buFont typeface="Arial" panose="020B0604020202020204" pitchFamily="34" charset="0"/>
              <a:buNone/>
            </a:pPr>
            <a:endParaRPr lang="zh-TW" altLang="en-US" dirty="0"/>
          </a:p>
          <a:p>
            <a:r>
              <a:rPr lang="en-US" altLang="zh-TW" b="1" dirty="0"/>
              <a:t>2. </a:t>
            </a:r>
            <a:r>
              <a:rPr lang="zh-TW" altLang="en-US" b="1" dirty="0"/>
              <a:t>內積計算中絕對位置被抵銷</a:t>
            </a:r>
          </a:p>
          <a:p>
            <a:r>
              <a:rPr lang="zh-TW" altLang="en-US" dirty="0"/>
              <a:t>自注意力機制的核心是 </a:t>
            </a:r>
            <a:r>
              <a:rPr lang="en-US" altLang="zh-TW" dirty="0"/>
              <a:t>Q </a:t>
            </a:r>
            <a:r>
              <a:rPr lang="zh-TW" altLang="en-US" dirty="0"/>
              <a:t>和 </a:t>
            </a:r>
            <a:r>
              <a:rPr lang="en-US" altLang="zh-TW" dirty="0"/>
              <a:t>K </a:t>
            </a:r>
            <a:r>
              <a:rPr lang="zh-TW" altLang="en-US" dirty="0"/>
              <a:t>的內積查詢 計算兩個經過 </a:t>
            </a:r>
            <a:r>
              <a:rPr lang="en-US" altLang="zh-TW" dirty="0" err="1"/>
              <a:t>RoPE</a:t>
            </a:r>
            <a:r>
              <a:rPr lang="en-US" altLang="zh-TW" dirty="0"/>
              <a:t> </a:t>
            </a:r>
            <a:r>
              <a:rPr lang="zh-TW" altLang="en-US" dirty="0"/>
              <a:t>旋轉的向量 </a:t>
            </a:r>
            <a:r>
              <a:rPr lang="en-US" altLang="zh-TW" dirty="0" err="1"/>
              <a:t>q'_m</a:t>
            </a:r>
            <a:r>
              <a:rPr lang="en-US" altLang="zh-TW" dirty="0"/>
              <a:t> </a:t>
            </a:r>
            <a:r>
              <a:rPr lang="zh-TW" altLang="en-US" dirty="0"/>
              <a:t>和 </a:t>
            </a:r>
            <a:r>
              <a:rPr lang="en-US" altLang="zh-TW" dirty="0"/>
              <a:t>$</a:t>
            </a:r>
            <a:r>
              <a:rPr lang="en-US" altLang="zh-TW" dirty="0" err="1"/>
              <a:t>k'_n</a:t>
            </a:r>
            <a:r>
              <a:rPr lang="en-US" altLang="zh-TW" dirty="0"/>
              <a:t> </a:t>
            </a:r>
            <a:r>
              <a:rPr lang="zh-TW" altLang="en-US" dirty="0"/>
              <a:t>的內積時，奇妙的事情發生了：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根據複數的共軛特性和歐拉公式（</a:t>
            </a:r>
            <a:r>
              <a:rPr lang="en-US" altLang="zh-TW" dirty="0"/>
              <a:t>Euler's formula</a:t>
            </a:r>
            <a:r>
              <a:rPr lang="zh-TW" altLang="en-US" dirty="0"/>
              <a:t>）的推導，內積會簡化為一個與</a:t>
            </a:r>
            <a:r>
              <a:rPr lang="zh-TW" altLang="en-US" b="1" dirty="0"/>
              <a:t>相對距離</a:t>
            </a:r>
            <a:r>
              <a:rPr lang="zh-TW" altLang="en-US" dirty="0"/>
              <a:t>相關的項：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TW" b="1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關鍵結論：</a:t>
            </a:r>
            <a:r>
              <a:rPr lang="zh-TW" altLang="en-US" dirty="0"/>
              <a:t> 儘管在第一步我們使用絕對位置 </a:t>
            </a:r>
            <a:r>
              <a:rPr lang="en-US" altLang="zh-TW" dirty="0"/>
              <a:t>$m$ </a:t>
            </a:r>
            <a:r>
              <a:rPr lang="zh-TW" altLang="en-US" dirty="0"/>
              <a:t>和 </a:t>
            </a:r>
            <a:r>
              <a:rPr lang="en-US" altLang="zh-TW" dirty="0"/>
              <a:t>$n$ </a:t>
            </a:r>
            <a:r>
              <a:rPr lang="zh-TW" altLang="en-US" dirty="0"/>
              <a:t>進行編碼，但內積的結果中，旋轉部分只剩下 </a:t>
            </a:r>
            <a:r>
              <a:rPr lang="en-US" altLang="zh-TW" dirty="0"/>
              <a:t>$e^{</a:t>
            </a:r>
            <a:r>
              <a:rPr lang="en-US" altLang="zh-TW" dirty="0" err="1"/>
              <a:t>i</a:t>
            </a:r>
            <a:r>
              <a:rPr lang="en-US" altLang="zh-TW" dirty="0"/>
              <a:t>(m-n)\theta}$</a:t>
            </a:r>
            <a:r>
              <a:rPr lang="zh-TW" altLang="en-US" dirty="0"/>
              <a:t>，它</a:t>
            </a:r>
            <a:r>
              <a:rPr lang="zh-TW" altLang="en-US" b="1" dirty="0"/>
              <a:t>只與位置的差值 </a:t>
            </a:r>
            <a:r>
              <a:rPr lang="en-US" altLang="zh-TW" b="1" dirty="0"/>
              <a:t>$(m-n)$ </a:t>
            </a:r>
            <a:r>
              <a:rPr lang="zh-TW" altLang="en-US" b="1" dirty="0"/>
              <a:t>相關</a:t>
            </a:r>
            <a:r>
              <a:rPr lang="zh-TW" altLang="en-US" dirty="0"/>
              <a:t>。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傳統絕對位置編碼 </a:t>
            </a:r>
            <a:r>
              <a:rPr lang="en-US" altLang="zh-TW" b="1" dirty="0"/>
              <a:t>(PE):</a:t>
            </a:r>
            <a:r>
              <a:rPr lang="zh-TW" altLang="en-US" dirty="0"/>
              <a:t> 將絕對位置向量與詞嵌入</a:t>
            </a:r>
            <a:r>
              <a:rPr lang="zh-TW" altLang="en-US" b="1" dirty="0"/>
              <a:t>相加</a:t>
            </a:r>
            <a:r>
              <a:rPr lang="zh-TW" altLang="en-US" dirty="0"/>
              <a:t>，讓模型在線性轉換後產生的 </a:t>
            </a:r>
            <a:r>
              <a:rPr lang="en-US" altLang="zh-TW" dirty="0"/>
              <a:t>QKV </a:t>
            </a:r>
            <a:r>
              <a:rPr lang="zh-TW" altLang="en-US" dirty="0"/>
              <a:t>中</a:t>
            </a:r>
            <a:r>
              <a:rPr lang="zh-TW" altLang="en-US" b="1" dirty="0"/>
              <a:t>自行學習</a:t>
            </a:r>
            <a:r>
              <a:rPr lang="zh-TW" altLang="en-US" dirty="0"/>
              <a:t>如何捕捉位置關係和相對位置資訊。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 err="1"/>
              <a:t>RoPE</a:t>
            </a:r>
            <a:r>
              <a:rPr lang="zh-TW" altLang="en-US" b="1" dirty="0"/>
              <a:t>：</a:t>
            </a:r>
            <a:r>
              <a:rPr lang="zh-TW" altLang="en-US" dirty="0"/>
              <a:t> 透過將絕對位置 </a:t>
            </a:r>
            <a:r>
              <a:rPr lang="en-US" altLang="zh-TW" dirty="0"/>
              <a:t>($m, n$) </a:t>
            </a:r>
            <a:r>
              <a:rPr lang="zh-TW" altLang="en-US" dirty="0"/>
              <a:t>資訊編碼成旋轉矩陣 </a:t>
            </a:r>
            <a:r>
              <a:rPr lang="en-US" altLang="zh-TW" dirty="0"/>
              <a:t>$</a:t>
            </a:r>
            <a:r>
              <a:rPr lang="en-US" altLang="zh-TW" dirty="0" err="1"/>
              <a:t>R_m</a:t>
            </a:r>
            <a:r>
              <a:rPr lang="en-US" altLang="zh-TW" dirty="0"/>
              <a:t>$ </a:t>
            </a:r>
            <a:r>
              <a:rPr lang="zh-TW" altLang="en-US" dirty="0"/>
              <a:t>和 </a:t>
            </a:r>
            <a:r>
              <a:rPr lang="en-US" altLang="zh-TW" dirty="0"/>
              <a:t>$</a:t>
            </a:r>
            <a:r>
              <a:rPr lang="en-US" altLang="zh-TW" dirty="0" err="1"/>
              <a:t>R_n</a:t>
            </a:r>
            <a:r>
              <a:rPr lang="en-US" altLang="zh-TW" dirty="0"/>
              <a:t>$</a:t>
            </a:r>
            <a:r>
              <a:rPr lang="zh-TW" altLang="en-US" dirty="0"/>
              <a:t>，然後與 </a:t>
            </a:r>
            <a:r>
              <a:rPr lang="en-US" altLang="zh-TW" dirty="0"/>
              <a:t>$Q, K$ </a:t>
            </a:r>
            <a:r>
              <a:rPr lang="zh-TW" altLang="en-US" b="1" dirty="0"/>
              <a:t>相乘</a:t>
            </a:r>
            <a:r>
              <a:rPr lang="zh-TW" altLang="en-US" dirty="0"/>
              <a:t>。這種設計保證了在後續的內積計算中，</a:t>
            </a:r>
            <a:r>
              <a:rPr lang="zh-TW" altLang="en-US" b="1" dirty="0"/>
              <a:t>相對的位置資訊 </a:t>
            </a:r>
            <a:r>
              <a:rPr lang="en-US" altLang="zh-TW" b="1" dirty="0"/>
              <a:t>$(m-n)$ </a:t>
            </a:r>
            <a:r>
              <a:rPr lang="zh-TW" altLang="en-US" b="1" dirty="0"/>
              <a:t>會被明確地引入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4D97F-EC8D-4129-B8C2-2B6CBC1BF9BE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7814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AB5398-AC91-33C4-2592-B1FAE7241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1467577-B002-BA2E-9589-D4C656C4C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1D232E-927E-3C4B-912B-C2E3B4A02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A9A89-4C48-473D-8A0A-F7C51910434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3E53CA-2AA4-E87A-1A13-86FEFCC13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469087-2142-F5FA-9049-EAAFE09A4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5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211F96-FB84-45DE-2660-FEA1666D0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1BB34A-4B5F-5C35-76DF-CCCEDA70E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D57BD9-802A-B080-8851-E4E01B28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A9A89-4C48-473D-8A0A-F7C51910434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BEB0FA-943C-44B8-4F2D-64709DACC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E2E4B1-B357-BC77-2BF1-9FBB6C0E3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121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2E7028-8B8B-15B8-91A8-76F34990B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5A8F992-74F7-685A-640E-59DB49E07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2379DA-4DC2-2423-A03D-49997B87B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A9A89-4C48-473D-8A0A-F7C51910434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938A90-5DCC-744D-4152-0482929B4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DC6F9B-848A-9AE0-6078-1B4BF49F0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94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244DB0-03CF-5C8F-A543-D50EEFA13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C7E196-5410-640E-DE74-68F0D81FA5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4C9CAC9-028D-FA74-00E8-B252CB749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0C6A01D-5E35-009D-04E9-9436F3196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A9A89-4C48-473D-8A0A-F7C51910434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01BE42-8C84-6123-2092-D30E278C0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D3A049C-17DC-C7A0-1488-01402729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42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F7B73A-BE5B-7683-1803-0881ED1D5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65AE5A-E655-E63A-8537-E619F0255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1791104-5F65-FD89-267D-9FB3742D5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C93EB41-A1C3-BC56-EA52-E08D69E80D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675FCE6-86D4-DB15-0A0B-CD8FAB4BA0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A322DF9-C062-839C-B986-C900132B4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A9A89-4C48-473D-8A0A-F7C51910434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782BDDB-0943-3E9C-3038-C6063E62C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A590D78-5AF8-D077-17A1-32A4E0015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658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86393F-2F32-3720-4BF4-7782C410D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2A6627A-6A54-4E5E-5210-B459511F5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A9A89-4C48-473D-8A0A-F7C51910434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795EA39-FF15-9FF7-66D5-7382935D8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6064797-713D-C48C-362F-7481269A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7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4B4B508-E8C7-C51E-BD23-60DF36B87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A9A89-4C48-473D-8A0A-F7C51910434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731EA25-355F-B3D8-62C3-4FE3C0088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8E3EA5-224E-32EA-0063-5108E099A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0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AA743E-9CA7-7066-90DA-9B651FB6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C30A3C-6C38-E833-5C95-96B5458C7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6F213E8-7453-4031-C16D-E8D2E0120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0DA8AC7-8D4B-5432-73E5-F4FD51831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A9A89-4C48-473D-8A0A-F7C51910434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A5E8AD0-F61E-9B96-F472-7DF4427FD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77F2323-8BDE-224B-E63A-B80F936CB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81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11355E-0092-1900-F31F-2D1646964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03F428C-B116-ED4B-C06E-A6488A2CF3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1FFBFEC-E208-9EA5-1968-F76B66890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13D127E-D86E-3F2A-4C92-8EC928F9C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A9A89-4C48-473D-8A0A-F7C51910434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37FC179-EDCC-F741-32AD-A4F2A622E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8327F74-6CBE-6195-DA78-1D5B55FE7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847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28DD6E-13F7-6E28-165F-8F5D87942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5AED5EF-2AF7-A586-6A2E-632829792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24B65A-9A78-AB2A-729E-140A63916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A9A89-4C48-473D-8A0A-F7C51910434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645985-E17C-B986-E6C8-4520F550E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195350-BFE6-5443-6AF1-419AE3CD1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34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63A2383-ADD0-F91D-F732-2130A9EA8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9DFDBA2-2CFA-CCE4-F217-3D8F8F365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186AEC-54CF-A1C6-726E-117D5DF41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A9A89-4C48-473D-8A0A-F7C51910434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5780E3-C3DB-C0FB-870B-167434C17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83A51B-3B76-84D5-5BD8-F7407EC97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03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165C35E-6C4D-B5B7-6850-E6F5E42F2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23FEDDE-DDBD-B1B4-BB97-67AE3E6FA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63289A-A0BE-B356-84CC-B10E159E05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DA9A89-4C48-473D-8A0A-F7C51910434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B46917-10DA-C0F2-874F-97B9A6B44E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FA41870-2417-F348-EEE9-94CCEE3906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603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10.1560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tommyngx/fluent-speech-corpu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3" Type="http://schemas.microsoft.com/office/2007/relationships/media" Target="../media/media2.wav"/><Relationship Id="rId7" Type="http://schemas.openxmlformats.org/officeDocument/2006/relationships/slideLayout" Target="../slideLayouts/slideLayout6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5" Type="http://schemas.microsoft.com/office/2007/relationships/media" Target="../media/media3.wav"/><Relationship Id="rId4" Type="http://schemas.openxmlformats.org/officeDocument/2006/relationships/audio" Target="../media/media2.wav"/><Relationship Id="rId9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45A681-CF2A-5614-8F5B-24900B700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4445" y="2198598"/>
            <a:ext cx="12286445" cy="1230402"/>
          </a:xfrm>
        </p:spPr>
        <p:txBody>
          <a:bodyPr>
            <a:normAutofit/>
          </a:bodyPr>
          <a:lstStyle/>
          <a:p>
            <a:r>
              <a:rPr lang="en-US" sz="3600" dirty="0"/>
              <a:t>Homework4 Presentation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2B60184-B3EF-953E-C3E7-40EDD9CEF9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Institute of Biomedical Informatics</a:t>
            </a:r>
          </a:p>
          <a:p>
            <a:r>
              <a:rPr lang="en-US" altLang="zh-TW" dirty="0"/>
              <a:t>You-Lin Lin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83968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62F578-C92B-4990-B7A3-B9C5C0BD5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F48FB49-322E-4CA6-9A98-B602276319AC}"/>
              </a:ext>
            </a:extLst>
          </p:cNvPr>
          <p:cNvSpPr txBox="1"/>
          <p:nvPr/>
        </p:nvSpPr>
        <p:spPr>
          <a:xfrm>
            <a:off x="5683963" y="5955470"/>
            <a:ext cx="82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hlinkClick r:id="rId3"/>
              </a:rPr>
              <a:t>Source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36E6288-569B-4241-8282-DBC688748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978855"/>
            <a:ext cx="12192000" cy="259519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1EFD51F-50F4-4261-BC7D-E6C04984AADF}"/>
              </a:ext>
            </a:extLst>
          </p:cNvPr>
          <p:cNvSpPr txBox="1"/>
          <p:nvPr/>
        </p:nvSpPr>
        <p:spPr>
          <a:xfrm>
            <a:off x="4134564" y="4574048"/>
            <a:ext cx="3922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arXiv:2410.15608v2 [cs.SD] 22 Oct 2024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0956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2ACEFA-CAAF-499C-8827-3F3538FAB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Innovations of Moonshine ASR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AB08EF-D072-404E-A063-408821FC8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025"/>
            <a:ext cx="5969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b="1" dirty="0"/>
              <a:t>1. Variable-Length Encoder Architecture</a:t>
            </a:r>
          </a:p>
          <a:p>
            <a:pPr marL="0" indent="0">
              <a:buNone/>
            </a:pPr>
            <a:r>
              <a:rPr lang="en-US" altLang="zh-TW" dirty="0"/>
              <a:t>Designed to process speech segments of various lengths without using zero-padding.</a:t>
            </a:r>
          </a:p>
          <a:p>
            <a:pPr marL="0" indent="0">
              <a:buNone/>
            </a:pPr>
            <a:r>
              <a:rPr lang="en-US" altLang="zh-TW" b="1" dirty="0"/>
              <a:t>2. Use of Rotary Position Embeddings (</a:t>
            </a:r>
            <a:r>
              <a:rPr lang="en-US" altLang="zh-TW" b="1" dirty="0" err="1"/>
              <a:t>RoPE</a:t>
            </a:r>
            <a:r>
              <a:rPr lang="en-US" altLang="zh-TW" b="1" dirty="0"/>
              <a:t>)</a:t>
            </a:r>
          </a:p>
          <a:p>
            <a:pPr marL="0" indent="0">
              <a:buNone/>
            </a:pPr>
            <a:r>
              <a:rPr lang="en-US" altLang="zh-TW" dirty="0"/>
              <a:t>Employs </a:t>
            </a:r>
            <a:r>
              <a:rPr lang="en-US" altLang="zh-TW" dirty="0" err="1"/>
              <a:t>RoPE</a:t>
            </a:r>
            <a:r>
              <a:rPr lang="en-US" altLang="zh-TW" dirty="0"/>
              <a:t> instead of traditional absolute position embeddings.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734FB85-7A96-48FC-BFF8-11C47EF69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399" y="1952654"/>
            <a:ext cx="5459977" cy="360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187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1623F2-A217-4852-8426-A67E85B5B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Variable-Length Encoder Architecture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3B4144A-2599-4A54-8841-2EC617063D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" y="1401428"/>
            <a:ext cx="6305163" cy="5342271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1B852FF-28FA-4E9D-86C6-A47442558F04}"/>
              </a:ext>
            </a:extLst>
          </p:cNvPr>
          <p:cNvSpPr txBox="1"/>
          <p:nvPr/>
        </p:nvSpPr>
        <p:spPr>
          <a:xfrm>
            <a:off x="6670481" y="1854200"/>
            <a:ext cx="4318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Audio Frontend: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Moonshine: Direct Conv1D on raw audio.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Whisper: Relies on Mel spectrograms before convolution.</a:t>
            </a:r>
          </a:p>
          <a:p>
            <a:r>
              <a:rPr lang="en-US" altLang="zh-TW" sz="2000" b="1" dirty="0"/>
              <a:t>Positional Embedding: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Moonshine: Uses </a:t>
            </a:r>
            <a:r>
              <a:rPr lang="en-US" altLang="zh-TW" sz="2000" dirty="0" err="1"/>
              <a:t>RoPE</a:t>
            </a:r>
            <a:r>
              <a:rPr lang="en-US" altLang="zh-TW" sz="2000" dirty="0"/>
              <a:t> (Rotary/Relative)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Whisper: Uses Absolute Embeddings -&gt;Requires fixed 30s padded input.</a:t>
            </a:r>
          </a:p>
          <a:p>
            <a:r>
              <a:rPr lang="en-US" altLang="zh-TW" sz="2000" b="1" dirty="0"/>
              <a:t>Activation Function (Decoder):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Moonshine: FFN + </a:t>
            </a:r>
            <a:r>
              <a:rPr lang="en-US" altLang="zh-TW" sz="2000" dirty="0" err="1"/>
              <a:t>SwiGLU</a:t>
            </a:r>
            <a:r>
              <a:rPr lang="en-US" altLang="zh-TW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Whisper: GELU.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99847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9B7BC0-5115-4A1D-9B0D-5B8F982E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RoPE</a:t>
            </a:r>
            <a:r>
              <a:rPr lang="en-US" altLang="zh-TW" dirty="0"/>
              <a:t>: Rotary Position Embeddings</a:t>
            </a:r>
            <a:endParaRPr lang="zh-TW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137B690-1A3F-4221-91AE-D8B9CC369D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05451"/>
            <a:ext cx="7824578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(e.g., Whisper-style):</a:t>
            </a: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0"/>
              </a:rPr>
              <a:t>Input = Embedding + Absolute_Position_Vector</a:t>
            </a: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0"/>
              </a:rPr>
              <a:t>Q, K, V = Linear_Transform(Input)</a:t>
            </a: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0"/>
              </a:rPr>
              <a:t>Attention_Output = Dot_Product_Query(Q, K) + V</a:t>
            </a:r>
            <a:endParaRPr kumimoji="0" lang="en-US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RoPE (Moonshine):</a:t>
            </a: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0"/>
              </a:rPr>
              <a:t>Q, K, V = Linear_Transform(Embedding)</a:t>
            </a: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0"/>
              </a:rPr>
              <a:t>Q_rotated = Q * RoPE_Matrix</a:t>
            </a: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0"/>
              </a:rPr>
              <a:t>K_rotated = K * RoPE_Matrix</a:t>
            </a: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0"/>
              </a:rPr>
              <a:t>Attention_Output = Dot_Product_Query(Q_rotated, K_rotated) + V</a:t>
            </a: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3135E90-85D4-4E5A-B90D-404A564DD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120" y="4987008"/>
            <a:ext cx="3625996" cy="64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7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14FA0F-6C07-47D5-A31C-F89B7AD6F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Dataset</a:t>
            </a:r>
            <a:endParaRPr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659867D2-9351-4441-8068-738759378B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7957437"/>
              </p:ext>
            </p:extLst>
          </p:nvPr>
        </p:nvGraphicFramePr>
        <p:xfrm>
          <a:off x="838200" y="1311276"/>
          <a:ext cx="5513718" cy="5479762"/>
        </p:xfrm>
        <a:graphic>
          <a:graphicData uri="http://schemas.openxmlformats.org/drawingml/2006/table">
            <a:tbl>
              <a:tblPr/>
              <a:tblGrid>
                <a:gridCol w="2756859">
                  <a:extLst>
                    <a:ext uri="{9D8B030D-6E8A-4147-A177-3AD203B41FA5}">
                      <a16:colId xmlns:a16="http://schemas.microsoft.com/office/drawing/2014/main" val="654177632"/>
                    </a:ext>
                  </a:extLst>
                </a:gridCol>
                <a:gridCol w="2756859">
                  <a:extLst>
                    <a:ext uri="{9D8B030D-6E8A-4147-A177-3AD203B41FA5}">
                      <a16:colId xmlns:a16="http://schemas.microsoft.com/office/drawing/2014/main" val="1766129407"/>
                    </a:ext>
                  </a:extLst>
                </a:gridCol>
              </a:tblGrid>
              <a:tr h="251730">
                <a:tc>
                  <a:txBody>
                    <a:bodyPr/>
                    <a:lstStyle/>
                    <a:p>
                      <a:pPr rtl="0"/>
                      <a:r>
                        <a:rPr lang="en-US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Dataset Name</a:t>
                      </a:r>
                      <a:endParaRPr lang="en-US" sz="2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7428" marR="67428" marT="44952" marB="449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Total Hours (Approx.)</a:t>
                      </a:r>
                      <a:endParaRPr lang="en-US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7428" marR="67428" marT="44952" marB="449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66928"/>
                  </a:ext>
                </a:extLst>
              </a:tr>
              <a:tr h="575383">
                <a:tc>
                  <a:txBody>
                    <a:bodyPr/>
                    <a:lstStyle/>
                    <a:p>
                      <a:pPr rtl="0"/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Common Voice </a:t>
                      </a:r>
                      <a:endParaRPr lang="en-US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7428" marR="67428" marT="44952" marB="449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~19,673 validated hours (across 120 languages)</a:t>
                      </a:r>
                    </a:p>
                  </a:txBody>
                  <a:tcPr marL="67428" marR="67428" marT="44952" marB="449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9194205"/>
                  </a:ext>
                </a:extLst>
              </a:tr>
              <a:tr h="737210">
                <a:tc>
                  <a:txBody>
                    <a:bodyPr/>
                    <a:lstStyle/>
                    <a:p>
                      <a:pPr rtl="0"/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AMI Corpus</a:t>
                      </a:r>
                      <a:endParaRPr lang="en-US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7428" marR="67428" marT="44952" marB="449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100 hours</a:t>
                      </a:r>
                    </a:p>
                  </a:txBody>
                  <a:tcPr marL="67428" marR="67428" marT="44952" marB="449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804846"/>
                  </a:ext>
                </a:extLst>
              </a:tr>
              <a:tr h="575383">
                <a:tc>
                  <a:txBody>
                    <a:bodyPr/>
                    <a:lstStyle/>
                    <a:p>
                      <a:pPr rtl="0"/>
                      <a:r>
                        <a:rPr lang="en-US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GigaSpeech</a:t>
                      </a:r>
                      <a:endParaRPr lang="en-US" sz="2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7428" marR="67428" marT="44952" marB="449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10,000 hours (high-quality transcribed)</a:t>
                      </a:r>
                    </a:p>
                  </a:txBody>
                  <a:tcPr marL="67428" marR="67428" marT="44952" marB="449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5818794"/>
                  </a:ext>
                </a:extLst>
              </a:tr>
              <a:tr h="737210">
                <a:tc>
                  <a:txBody>
                    <a:bodyPr/>
                    <a:lstStyle/>
                    <a:p>
                      <a:pPr rtl="0"/>
                      <a:r>
                        <a:rPr lang="en-US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LibriSpeech</a:t>
                      </a:r>
                      <a:endParaRPr lang="en-US" sz="2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7428" marR="67428" marT="44952" marB="449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~1,000 hours</a:t>
                      </a:r>
                    </a:p>
                  </a:txBody>
                  <a:tcPr marL="67428" marR="67428" marT="44952" marB="449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9491175"/>
                  </a:ext>
                </a:extLst>
              </a:tr>
              <a:tr h="737210">
                <a:tc>
                  <a:txBody>
                    <a:bodyPr/>
                    <a:lstStyle/>
                    <a:p>
                      <a:pPr rtl="0"/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Multilingual </a:t>
                      </a:r>
                      <a:r>
                        <a:rPr lang="en-US" sz="20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LibriSpeech</a:t>
                      </a: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(MLS)</a:t>
                      </a:r>
                      <a:endParaRPr lang="en-US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7428" marR="67428" marT="44952" marB="449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~44,500 hours (English subset)</a:t>
                      </a:r>
                    </a:p>
                  </a:txBody>
                  <a:tcPr marL="67428" marR="67428" marT="44952" marB="449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098110"/>
                  </a:ext>
                </a:extLst>
              </a:tr>
              <a:tr h="737210">
                <a:tc>
                  <a:txBody>
                    <a:bodyPr/>
                    <a:lstStyle/>
                    <a:p>
                      <a:pPr rtl="0"/>
                      <a:r>
                        <a:rPr lang="en-US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People's Speech</a:t>
                      </a:r>
                      <a:endParaRPr lang="en-US" sz="2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7428" marR="67428" marT="44952" marB="449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30,000+ hours</a:t>
                      </a:r>
                    </a:p>
                  </a:txBody>
                  <a:tcPr marL="67428" marR="67428" marT="44952" marB="449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7863278"/>
                  </a:ext>
                </a:extLst>
              </a:tr>
              <a:tr h="737210">
                <a:tc>
                  <a:txBody>
                    <a:bodyPr/>
                    <a:lstStyle/>
                    <a:p>
                      <a:pPr rtl="0"/>
                      <a:r>
                        <a:rPr lang="en-US" altLang="zh-TW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Private </a:t>
                      </a:r>
                      <a:endParaRPr lang="en-US" sz="2000" b="1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7428" marR="67428" marT="44952" marB="449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100,000+ hours </a:t>
                      </a:r>
                      <a:endParaRPr lang="en-US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7428" marR="67428" marT="44952" marB="44952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0669870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5434CE86-9A8E-4AD8-A99D-86570198E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699" y="2124335"/>
            <a:ext cx="4608957" cy="365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81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5CCE5F-CCBD-4F77-8108-F255EBB99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DB04D80-99A5-44E9-AFF2-2F087F73C4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99180"/>
            <a:ext cx="10515600" cy="3146652"/>
          </a:xfrm>
        </p:spPr>
      </p:pic>
    </p:spTree>
    <p:extLst>
      <p:ext uri="{BB962C8B-B14F-4D97-AF65-F5344CB8AC3E}">
        <p14:creationId xmlns:p14="http://schemas.microsoft.com/office/powerpoint/2010/main" val="2146362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988E1B-E244-4C88-85FA-2CADF96D4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39F31D7-E50E-4C3D-8ECC-F6F54F374F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892635"/>
            <a:ext cx="10515600" cy="4217317"/>
          </a:xfrm>
        </p:spPr>
      </p:pic>
    </p:spTree>
    <p:extLst>
      <p:ext uri="{BB962C8B-B14F-4D97-AF65-F5344CB8AC3E}">
        <p14:creationId xmlns:p14="http://schemas.microsoft.com/office/powerpoint/2010/main" val="662233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88DE56E9-1329-458D-A7F7-918B853E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FDF5344-79EC-45B6-8BF0-A326C18AC269}"/>
              </a:ext>
            </a:extLst>
          </p:cNvPr>
          <p:cNvSpPr txBox="1"/>
          <p:nvPr/>
        </p:nvSpPr>
        <p:spPr>
          <a:xfrm>
            <a:off x="838200" y="132135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/>
              <a:t>Fluent Speech Commands (FSC) Dataset</a:t>
            </a:r>
            <a:endParaRPr lang="zh-TW" altLang="en-US" sz="28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8A5F1F5-4BB3-4D08-A54D-2D76F034A29B}"/>
              </a:ext>
            </a:extLst>
          </p:cNvPr>
          <p:cNvSpPr txBox="1"/>
          <p:nvPr/>
        </p:nvSpPr>
        <p:spPr>
          <a:xfrm>
            <a:off x="838200" y="1844576"/>
            <a:ext cx="12395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Speakers</a:t>
            </a:r>
            <a:r>
              <a:rPr lang="en-US" altLang="zh-TW" sz="2400" dirty="0"/>
              <a:t>: 97 (from the United States and Canada)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Audio Format: </a:t>
            </a:r>
            <a:r>
              <a:rPr lang="en-US" altLang="zh-TW" sz="2400" dirty="0"/>
              <a:t>16kHz, single-channel .wav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Content: </a:t>
            </a:r>
            <a:r>
              <a:rPr lang="en-US" altLang="zh-TW" sz="2400" dirty="0"/>
              <a:t>248 unique phrases, with each speaker saying every phrase twice.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action: e.g., 'change language', 'activate', 'increase', 'decrease’.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object: e.g., 'music', 'lights', 'volume', 'heat', 'none’.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location: e.g., 'kitchen', 'bedroom', 'washroom', 'none’.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Data Splits: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Training Set: 23,132 audio files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Validation Set: 3,118 audio files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Test Set: 3,793 audio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Additional Data: </a:t>
            </a:r>
            <a:r>
              <a:rPr lang="en-US" altLang="zh-TW" sz="2400" dirty="0"/>
              <a:t>Includes speaker demographics (gender, age range, first language, etc.).</a:t>
            </a:r>
            <a:endParaRPr lang="zh-TW" altLang="en-US" sz="2400" dirty="0"/>
          </a:p>
        </p:txBody>
      </p:sp>
      <p:sp>
        <p:nvSpPr>
          <p:cNvPr id="10" name="文字方塊 9">
            <a:hlinkClick r:id="rId3"/>
            <a:extLst>
              <a:ext uri="{FF2B5EF4-FFF2-40B4-BE49-F238E27FC236}">
                <a16:creationId xmlns:a16="http://schemas.microsoft.com/office/drawing/2014/main" id="{3CBA7233-DC16-492B-900C-C10C1C2C7BD6}"/>
              </a:ext>
            </a:extLst>
          </p:cNvPr>
          <p:cNvSpPr txBox="1"/>
          <p:nvPr/>
        </p:nvSpPr>
        <p:spPr>
          <a:xfrm>
            <a:off x="2901950" y="843240"/>
            <a:ext cx="6616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3"/>
              </a:rPr>
              <a:t>https://www.kaggle.com/datasets/tommyngx/fluent-speech-corpus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64935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5D5237-0DA3-4412-A812-ACE8D16EC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Preprocessing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BFB6B5B-22EB-411A-9C42-7DFAEBDEC921}"/>
              </a:ext>
            </a:extLst>
          </p:cNvPr>
          <p:cNvSpPr txBox="1"/>
          <p:nvPr/>
        </p:nvSpPr>
        <p:spPr>
          <a:xfrm>
            <a:off x="838200" y="1827089"/>
            <a:ext cx="1051559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/>
              <a:t>Audio Processing Loading &amp; Resampling: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Resample all audio to 16,000 Hz to meet Moonshine model requirements.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Batch Padding: Use processor within </a:t>
            </a:r>
            <a:r>
              <a:rPr lang="en-US" altLang="zh-TW" sz="2400" dirty="0" err="1"/>
              <a:t>DataCollator</a:t>
            </a:r>
            <a:r>
              <a:rPr lang="en-US" altLang="zh-TW" sz="2400" dirty="0"/>
              <a:t> with padding=True.(consistent tensor dimensions)</a:t>
            </a:r>
          </a:p>
          <a:p>
            <a:r>
              <a:rPr lang="en-US" altLang="zh-TW" sz="2400" b="1" dirty="0"/>
              <a:t>Text Normalization (</a:t>
            </a:r>
            <a:r>
              <a:rPr lang="en-US" altLang="zh-TW" sz="2400" b="1" dirty="0" err="1"/>
              <a:t>normalize_text</a:t>
            </a:r>
            <a:r>
              <a:rPr lang="en-US" altLang="zh-TW" sz="2400" b="1" dirty="0"/>
              <a:t> function):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Convert transcriptions to lowercase.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Remove punctuation (keep only alphanumeric characters and whitespace).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Standardize whitespace (collapse multiple spaces, strip leading/trailing).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93837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AEC946-E730-4B69-BFDE-7560B5002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Preprocessing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27B748E-04AA-45C5-A0F6-02FA1E1F9508}"/>
              </a:ext>
            </a:extLst>
          </p:cNvPr>
          <p:cNvSpPr txBox="1"/>
          <p:nvPr/>
        </p:nvSpPr>
        <p:spPr>
          <a:xfrm>
            <a:off x="838200" y="1898440"/>
            <a:ext cx="798812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/>
              <a:t>Fix Problems: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Manually set </a:t>
            </a:r>
            <a:r>
              <a:rPr lang="en-US" altLang="zh-TW" sz="2400" dirty="0" err="1"/>
              <a:t>tokenizer.eos_token</a:t>
            </a:r>
            <a:r>
              <a:rPr lang="en-US" altLang="zh-TW" sz="2400" dirty="0"/>
              <a:t> = '&lt;/s&gt;' to synchronize the tokenizer with the model's </a:t>
            </a:r>
            <a:r>
              <a:rPr lang="en-US" altLang="zh-TW" sz="2400" dirty="0" err="1"/>
              <a:t>eos_token_id</a:t>
            </a:r>
            <a:r>
              <a:rPr lang="en-US" altLang="zh-TW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Manually add [PAD] as </a:t>
            </a:r>
            <a:r>
              <a:rPr lang="en-US" altLang="zh-TW" sz="2400" dirty="0" err="1"/>
              <a:t>pad_token</a:t>
            </a:r>
            <a:r>
              <a:rPr lang="en-US" altLang="zh-TW" sz="2400" dirty="0"/>
              <a:t>.</a:t>
            </a:r>
          </a:p>
          <a:p>
            <a:endParaRPr lang="en-US" altLang="zh-TW" sz="2400" dirty="0"/>
          </a:p>
          <a:p>
            <a:r>
              <a:rPr lang="en-US" altLang="zh-TW" sz="2400" b="1" dirty="0"/>
              <a:t>Label Processing (</a:t>
            </a:r>
            <a:r>
              <a:rPr lang="en-US" altLang="zh-TW" sz="2400" b="1" dirty="0" err="1"/>
              <a:t>DataCollator</a:t>
            </a:r>
            <a:r>
              <a:rPr lang="en-US" altLang="zh-TW" sz="2400" b="1" dirty="0"/>
              <a:t>):</a:t>
            </a:r>
          </a:p>
          <a:p>
            <a:r>
              <a:rPr lang="en-US" altLang="zh-TW" sz="2400" dirty="0"/>
              <a:t>Replace the </a:t>
            </a:r>
            <a:r>
              <a:rPr lang="en-US" altLang="zh-TW" sz="2400" dirty="0" err="1"/>
              <a:t>pad_token_id</a:t>
            </a:r>
            <a:r>
              <a:rPr lang="en-US" altLang="zh-TW" sz="2400" dirty="0"/>
              <a:t> (the ID for [PAD]) with -100 in the target labels tensor.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63933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4CAA35-ACFB-43C6-917B-6445D04C6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Training Parameters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E34B5C4-72F2-4864-94DA-C59447ADC6C1}"/>
              </a:ext>
            </a:extLst>
          </p:cNvPr>
          <p:cNvSpPr txBox="1"/>
          <p:nvPr/>
        </p:nvSpPr>
        <p:spPr>
          <a:xfrm>
            <a:off x="838200" y="2033565"/>
            <a:ext cx="74729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/>
              <a:t>Optimizer: </a:t>
            </a:r>
            <a:r>
              <a:rPr lang="en-US" altLang="zh-TW" sz="2400" dirty="0" err="1"/>
              <a:t>torch.optim.AdamW</a:t>
            </a:r>
            <a:r>
              <a:rPr lang="en-US" altLang="zh-TW" sz="2400" dirty="0"/>
              <a:t> (</a:t>
            </a:r>
            <a:r>
              <a:rPr lang="en-US" altLang="zh-TW" sz="2400" dirty="0" err="1"/>
              <a:t>lr</a:t>
            </a:r>
            <a:r>
              <a:rPr lang="en-US" altLang="zh-TW" sz="2400" dirty="0"/>
              <a:t>=1e-5)</a:t>
            </a:r>
          </a:p>
          <a:p>
            <a:r>
              <a:rPr lang="en-US" altLang="zh-TW" sz="2400" b="1" dirty="0"/>
              <a:t>Loss: </a:t>
            </a:r>
            <a:r>
              <a:rPr lang="en-US" altLang="zh-TW" sz="2400" dirty="0"/>
              <a:t>Cross-Entropy Loss</a:t>
            </a:r>
          </a:p>
          <a:p>
            <a:r>
              <a:rPr lang="en-US" altLang="zh-TW" sz="2400" b="1" dirty="0"/>
              <a:t>Metric: </a:t>
            </a:r>
            <a:r>
              <a:rPr lang="en-US" altLang="zh-TW" sz="2400" dirty="0"/>
              <a:t>Word Error Rate (WER)</a:t>
            </a:r>
          </a:p>
          <a:p>
            <a:r>
              <a:rPr lang="en-US" altLang="zh-TW" sz="2400" b="1" dirty="0"/>
              <a:t>Decoding Strategy: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Beam Search (</a:t>
            </a:r>
            <a:r>
              <a:rPr lang="en-US" altLang="zh-TW" sz="2400" dirty="0" err="1"/>
              <a:t>num_beams</a:t>
            </a:r>
            <a:r>
              <a:rPr lang="en-US" altLang="zh-TW" sz="2400" dirty="0"/>
              <a:t>=5) or Greedy(</a:t>
            </a:r>
            <a:r>
              <a:rPr lang="en-US" altLang="zh-TW" sz="2400" dirty="0" err="1"/>
              <a:t>num_beams</a:t>
            </a:r>
            <a:r>
              <a:rPr lang="en-US" altLang="zh-TW" sz="2400" dirty="0"/>
              <a:t>=1)</a:t>
            </a:r>
          </a:p>
          <a:p>
            <a:r>
              <a:rPr lang="en-US" altLang="zh-TW" sz="2400" b="1" dirty="0"/>
              <a:t>Generation Constraints: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2400" dirty="0" err="1"/>
              <a:t>no_repeat_ngram_size</a:t>
            </a:r>
            <a:r>
              <a:rPr lang="en-US" altLang="zh-TW" sz="2400" dirty="0"/>
              <a:t>=3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max: 6 tokens per second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78337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2A1C82-7B2A-45B8-AB02-45ED89CE4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Results (hyperparameters)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3110A98-F228-400E-B018-23A74648DF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6" t="-2620" r="-696" b="51604"/>
          <a:stretch/>
        </p:blipFill>
        <p:spPr>
          <a:xfrm>
            <a:off x="620714" y="1357110"/>
            <a:ext cx="10950571" cy="478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786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11827F-F133-4F04-8960-963AE17D0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Results (hyperparameters)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462987F-CCEF-46D7-B8BB-E80DAEB016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7963"/>
          <a:stretch/>
        </p:blipFill>
        <p:spPr>
          <a:xfrm>
            <a:off x="0" y="1424903"/>
            <a:ext cx="11772246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16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8E5887-2A04-4EE2-BAAB-7BC4672C8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Results</a:t>
            </a:r>
            <a:endParaRPr lang="zh-TW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FEA3B29-B2EB-463C-9381-96E0D6AAB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666340"/>
              </p:ext>
            </p:extLst>
          </p:nvPr>
        </p:nvGraphicFramePr>
        <p:xfrm>
          <a:off x="838200" y="1917063"/>
          <a:ext cx="10515600" cy="21336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28778603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188719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Model / Condition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Word Error Rate (WER)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9015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Baseline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9.06 %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427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Greedy (</a:t>
                      </a:r>
                      <a:r>
                        <a:rPr lang="en-US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val</a:t>
                      </a:r>
                      <a:r>
                        <a:rPr lang="en-US" altLang="zh-TW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1988.60 %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321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moonshine-tiny-</a:t>
                      </a:r>
                      <a:r>
                        <a:rPr lang="en-US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finetuned_frozen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205.98 %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0224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moonshine-tiny-finetuned-fsc-no-padding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222.62 %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4261380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53621414-6534-4F12-825E-C1ADAFEEC307}"/>
              </a:ext>
            </a:extLst>
          </p:cNvPr>
          <p:cNvSpPr txBox="1"/>
          <p:nvPr/>
        </p:nvSpPr>
        <p:spPr>
          <a:xfrm>
            <a:off x="838200" y="4406651"/>
            <a:ext cx="60981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/>
              <a:t>Test Set: 3,793 audio files</a:t>
            </a:r>
            <a:endParaRPr lang="en-US" altLang="zh-TW" dirty="0"/>
          </a:p>
          <a:p>
            <a:r>
              <a:rPr lang="en-US" altLang="zh-TW" dirty="0"/>
              <a:t>Baseline:</a:t>
            </a:r>
          </a:p>
          <a:p>
            <a:r>
              <a:rPr lang="en-US" altLang="zh-TW" dirty="0"/>
              <a:t>WER = 0%: 2761</a:t>
            </a:r>
          </a:p>
          <a:p>
            <a:r>
              <a:rPr lang="en-US" altLang="zh-TW" dirty="0"/>
              <a:t>WER = 100%: 83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247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4AA541-D6DE-4CE2-9F3A-B56DC9ACD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Results</a:t>
            </a:r>
            <a:endParaRPr lang="zh-TW" altLang="en-US" dirty="0"/>
          </a:p>
        </p:txBody>
      </p:sp>
      <p:pic>
        <p:nvPicPr>
          <p:cNvPr id="3" name="dd2316e0-452d-11e9-b1e4-e5985dca719e">
            <a:hlinkClick r:id="" action="ppaction://media"/>
            <a:extLst>
              <a:ext uri="{FF2B5EF4-FFF2-40B4-BE49-F238E27FC236}">
                <a16:creationId xmlns:a16="http://schemas.microsoft.com/office/drawing/2014/main" id="{104F056D-741D-4554-93EE-C502ED0508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67684" y="1690688"/>
            <a:ext cx="609600" cy="609600"/>
          </a:xfrm>
          <a:prstGeom prst="rect">
            <a:avLst/>
          </a:prstGeom>
        </p:spPr>
      </p:pic>
      <p:pic>
        <p:nvPicPr>
          <p:cNvPr id="4" name="f464e330-4530-11e9-b1e4-e5985dca719e">
            <a:hlinkClick r:id="" action="ppaction://media"/>
            <a:extLst>
              <a:ext uri="{FF2B5EF4-FFF2-40B4-BE49-F238E27FC236}">
                <a16:creationId xmlns:a16="http://schemas.microsoft.com/office/drawing/2014/main" id="{B8EE85CB-1A58-4237-B39C-E2BC9478EE1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67684" y="3321051"/>
            <a:ext cx="609600" cy="6096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6577A7B-8AA2-4194-95EE-CC432A638BC0}"/>
              </a:ext>
            </a:extLst>
          </p:cNvPr>
          <p:cNvSpPr txBox="1"/>
          <p:nvPr/>
        </p:nvSpPr>
        <p:spPr>
          <a:xfrm>
            <a:off x="2662707" y="3321051"/>
            <a:ext cx="60981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 'reference': 'washroom lights on'</a:t>
            </a:r>
          </a:p>
          <a:p>
            <a:r>
              <a:rPr lang="zh-TW" altLang="en-US" dirty="0"/>
              <a:t>  'hypothesis': 'wash them light on'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4FEFF37-D22A-4576-9445-FA764135A7CD}"/>
              </a:ext>
            </a:extLst>
          </p:cNvPr>
          <p:cNvSpPr txBox="1"/>
          <p:nvPr/>
        </p:nvSpPr>
        <p:spPr>
          <a:xfrm>
            <a:off x="2662707" y="1690688"/>
            <a:ext cx="60981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 'reference': 'bedroom lights off'</a:t>
            </a:r>
          </a:p>
          <a:p>
            <a:r>
              <a:rPr lang="zh-TW" altLang="en-US" dirty="0"/>
              <a:t>  'hypothesis': 'it reminds of'</a:t>
            </a:r>
          </a:p>
        </p:txBody>
      </p:sp>
      <p:pic>
        <p:nvPicPr>
          <p:cNvPr id="9" name="eebd0d10-452e-11e9-b1e4-e5985dca719e">
            <a:hlinkClick r:id="" action="ppaction://media"/>
            <a:extLst>
              <a:ext uri="{FF2B5EF4-FFF2-40B4-BE49-F238E27FC236}">
                <a16:creationId xmlns:a16="http://schemas.microsoft.com/office/drawing/2014/main" id="{FA52A1C9-431E-4D07-AA1F-D36592BE610C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67684" y="4862512"/>
            <a:ext cx="609600" cy="6096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5CF8B7BB-4334-4BCE-883A-80FCA6EE8146}"/>
              </a:ext>
            </a:extLst>
          </p:cNvPr>
          <p:cNvSpPr txBox="1"/>
          <p:nvPr/>
        </p:nvSpPr>
        <p:spPr>
          <a:xfrm>
            <a:off x="2662707" y="4951414"/>
            <a:ext cx="60981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 'reference': 'heat down',</a:t>
            </a:r>
          </a:p>
          <a:p>
            <a:r>
              <a:rPr lang="zh-TW" altLang="en-US" dirty="0"/>
              <a:t>  'hypothesis': 'he dont',</a:t>
            </a:r>
          </a:p>
        </p:txBody>
      </p:sp>
    </p:spTree>
    <p:extLst>
      <p:ext uri="{BB962C8B-B14F-4D97-AF65-F5344CB8AC3E}">
        <p14:creationId xmlns:p14="http://schemas.microsoft.com/office/powerpoint/2010/main" val="2343575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6" grpId="0"/>
      <p:bldP spid="8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C8D34D-2074-4B0C-8887-394123333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132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A232A1-EF95-4059-B3EC-A19EC7182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1FD72E30-BF42-426E-84C7-42B5EEDD9C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20635" y="1846972"/>
            <a:ext cx="1819529" cy="1209844"/>
          </a:xfr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6484067-8239-4E7B-B6E4-687EBA859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35" y="3115289"/>
            <a:ext cx="4191585" cy="68589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56FD9A2-7C55-4F04-B88F-9461D1DEE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35" y="3859658"/>
            <a:ext cx="3448531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563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79EC40-1AE2-4B32-AD75-7C5144E65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E4716E4-D960-40DD-9129-6F1C4E338F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0022" y="1961945"/>
            <a:ext cx="9609578" cy="4464178"/>
          </a:xfrm>
        </p:spPr>
      </p:pic>
    </p:spTree>
    <p:extLst>
      <p:ext uri="{BB962C8B-B14F-4D97-AF65-F5344CB8AC3E}">
        <p14:creationId xmlns:p14="http://schemas.microsoft.com/office/powerpoint/2010/main" val="154511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4692</TotalTime>
  <Words>2530</Words>
  <Application>Microsoft Office PowerPoint</Application>
  <PresentationFormat>寬螢幕</PresentationFormat>
  <Paragraphs>195</Paragraphs>
  <Slides>19</Slides>
  <Notes>13</Notes>
  <HiddenSlides>0</HiddenSlides>
  <MMClips>3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Arial Unicode MS</vt:lpstr>
      <vt:lpstr>Google Sans Flex</vt:lpstr>
      <vt:lpstr>Google Sans Text</vt:lpstr>
      <vt:lpstr>Arial</vt:lpstr>
      <vt:lpstr>Calibri</vt:lpstr>
      <vt:lpstr>Office 佈景主題</vt:lpstr>
      <vt:lpstr>Homework4 Presentation</vt:lpstr>
      <vt:lpstr>PowerPoint 簡報</vt:lpstr>
      <vt:lpstr>Innovations of Moonshine ASR</vt:lpstr>
      <vt:lpstr>Variable-Length Encoder Architecture</vt:lpstr>
      <vt:lpstr>RoPE: Rotary Position Embeddings</vt:lpstr>
      <vt:lpstr>Dataset</vt:lpstr>
      <vt:lpstr>PowerPoint 簡報</vt:lpstr>
      <vt:lpstr>Result</vt:lpstr>
      <vt:lpstr>Dataset</vt:lpstr>
      <vt:lpstr>Data Preprocessing</vt:lpstr>
      <vt:lpstr>Data Preprocessing</vt:lpstr>
      <vt:lpstr>Training Parameters</vt:lpstr>
      <vt:lpstr>Results (hyperparameters)</vt:lpstr>
      <vt:lpstr>Results (hyperparameters)</vt:lpstr>
      <vt:lpstr>Results</vt:lpstr>
      <vt:lpstr>Results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of The Presentation</dc:title>
  <dc:creator>洪哲倫</dc:creator>
  <cp:lastModifiedBy>宥霖 林</cp:lastModifiedBy>
  <cp:revision>83</cp:revision>
  <dcterms:created xsi:type="dcterms:W3CDTF">2025-08-29T15:22:57Z</dcterms:created>
  <dcterms:modified xsi:type="dcterms:W3CDTF">2025-10-20T03:45:17Z</dcterms:modified>
</cp:coreProperties>
</file>