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7" r:id="rId3"/>
    <p:sldId id="271" r:id="rId4"/>
    <p:sldId id="273" r:id="rId5"/>
    <p:sldId id="275" r:id="rId6"/>
    <p:sldId id="264" r:id="rId7"/>
    <p:sldId id="263" r:id="rId8"/>
    <p:sldId id="265" r:id="rId9"/>
    <p:sldId id="266" r:id="rId10"/>
    <p:sldId id="267" r:id="rId11"/>
    <p:sldId id="268" r:id="rId12"/>
    <p:sldId id="262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宥霖 林" initials="宥霖" lastIdx="1" clrIdx="0">
    <p:extLst>
      <p:ext uri="{19B8F6BF-5375-455C-9EA6-DF929625EA0E}">
        <p15:presenceInfo xmlns:p15="http://schemas.microsoft.com/office/powerpoint/2012/main" userId="d983dc606d8c4ec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B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65A23-0D47-4108-B65B-5CC92EEC84F8}" v="3" dt="2025-08-31T03:20:40.1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0380" autoAdjust="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108BB-CEE0-438E-9A87-44BB4662F93C}" type="datetimeFigureOut">
              <a:rPr lang="zh-TW" altLang="en-US" smtClean="0"/>
              <a:t>2025/9/6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04D97F-EC8D-4129-B8C2-2B6CBC1BF9B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651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147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6846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1935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0540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83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4.2 </a:t>
            </a:r>
            <a:r>
              <a:rPr lang="zh-TW" altLang="en-US" dirty="0"/>
              <a:t>節中，作者明確指出在訓練 </a:t>
            </a:r>
            <a:r>
              <a:rPr lang="en-US" altLang="zh-TW" dirty="0" err="1"/>
              <a:t>NonMNIST</a:t>
            </a:r>
            <a:r>
              <a:rPr lang="en-US" altLang="zh-TW" dirty="0"/>
              <a:t> </a:t>
            </a:r>
            <a:r>
              <a:rPr lang="zh-TW" altLang="en-US" dirty="0"/>
              <a:t>數據集時，使用的 </a:t>
            </a:r>
            <a:r>
              <a:rPr lang="en-US" altLang="zh-TW" dirty="0" err="1"/>
              <a:t>batch_size</a:t>
            </a:r>
            <a:r>
              <a:rPr lang="en-US" altLang="zh-TW" dirty="0"/>
              <a:t> </a:t>
            </a:r>
            <a:r>
              <a:rPr lang="zh-TW" altLang="en-US" dirty="0"/>
              <a:t>是 </a:t>
            </a:r>
            <a:r>
              <a:rPr lang="en-US" altLang="zh-TW" b="1" dirty="0"/>
              <a:t>64</a:t>
            </a:r>
            <a:r>
              <a:rPr lang="zh-TW" altLang="en-US" b="1" dirty="0"/>
              <a:t> </a:t>
            </a:r>
            <a:r>
              <a:rPr lang="en-US" altLang="zh-TW" b="1" dirty="0"/>
              <a:t>epochs 150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04D97F-EC8D-4129-B8C2-2B6CBC1BF9B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2050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B5398-AC91-33C4-2592-B1FAE7241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1467577-B002-BA2E-9589-D4C656C4C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D232E-927E-3C4B-912B-C2E3B4A02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E4A38-E39E-478C-B4D3-462C8820B053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3E53CA-2AA4-E87A-1A13-86FEFCC13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469087-2142-F5FA-9049-EAAFE09A4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50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211F96-FB84-45DE-2660-FEA1666D0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1BB34A-4B5F-5C35-76DF-CCCEDA70E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D57BD9-802A-B080-8851-E4E01B28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B3F2C-08F7-45CF-AA06-0082A055C44B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BEB0FA-943C-44B8-4F2D-64709DACC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E2E4B1-B357-BC77-2BF1-9FBB6C0E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121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E7028-8B8B-15B8-91A8-76F34990B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A8F992-74F7-685A-640E-59DB49E07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2379DA-4DC2-2423-A03D-49997B87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03023-A407-4158-ABC3-6D5ECFF88FC9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938A90-5DCC-744D-4152-0482929B4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DC6F9B-848A-9AE0-6078-1B4BF49F0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9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244DB0-03CF-5C8F-A543-D50EEFA1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C7E196-5410-640E-DE74-68F0D81FA5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4C9CAC9-028D-FA74-00E8-B252CB7492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C6A01D-5E35-009D-04E9-9436F319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FAA22-1C24-4EC0-A347-1772ECE8BF09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01BE42-8C84-6123-2092-D30E278C0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3A049C-17DC-C7A0-1488-01402729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42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F7B73A-BE5B-7683-1803-0881ED1D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65AE5A-E655-E63A-8537-E619F0255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1791104-5F65-FD89-267D-9FB3742D5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93EB41-A1C3-BC56-EA52-E08D69E80D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675FCE6-86D4-DB15-0A0B-CD8FAB4BA0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A322DF9-C062-839C-B986-C900132B4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5A839E-CC2B-4AA7-9695-5124A04BDB78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82BDDB-0943-3E9C-3038-C6063E62C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A590D78-5AF8-D077-17A1-32A4E001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5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86393F-2F32-3720-4BF4-7782C410D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2A6627A-6A54-4E5E-5210-B459511F5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6E3DB-3B94-4B9A-AEB3-6A6F450BFB2B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795EA39-FF15-9FF7-66D5-7382935D8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064797-713D-C48C-362F-7481269A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67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4B4B508-E8C7-C51E-BD23-60DF36B87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3B8A6-8825-4ADB-AA40-7B5A43D3DEDB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731EA25-355F-B3D8-62C3-4FE3C0088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8E3EA5-224E-32EA-0063-5108E099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0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AA743E-9CA7-7066-90DA-9B651FB6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C30A3C-6C38-E833-5C95-96B5458C7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6F213E8-7453-4031-C16D-E8D2E01207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DA8AC7-8D4B-5432-73E5-F4FD51831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9B4F-44D5-4D77-BCA6-4B716A26B8F3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A5E8AD0-F61E-9B96-F472-7DF4427FD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7F2323-8BDE-224B-E63A-B80F936C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81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11355E-0092-1900-F31F-2D164696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03F428C-B116-ED4B-C06E-A6488A2CF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FFBFEC-E208-9EA5-1968-F76B668906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3D127E-D86E-3F2A-4C92-8EC928F9C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29896-6C26-466D-B5DF-EF6C645D46D0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37FC179-EDCC-F741-32AD-A4F2A622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327F74-6CBE-6195-DA78-1D5B55FE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47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28DD6E-13F7-6E28-165F-8F5D87942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AED5EF-2AF7-A586-6A2E-632829792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24B65A-9A78-AB2A-729E-140A6391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F6A0-ACA2-417B-B9E2-3ABB9098F270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645985-E17C-B986-E6C8-4520F550E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95350-BFE6-5443-6AF1-419AE3CD1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4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63A2383-ADD0-F91D-F732-2130A9EA8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9DFDBA2-2CFA-CCE4-F217-3D8F8F365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186AEC-54CF-A1C6-726E-117D5DF41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647AD-129A-4AF3-AC63-E4D365836228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5780E3-C3DB-C0FB-870B-167434C1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83A51B-3B76-84D5-5BD8-F7407EC9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0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165C35E-6C4D-B5B7-6850-E6F5E42F2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3FEDDE-DDBD-B1B4-BB97-67AE3E6FA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63289A-A0BE-B356-84CC-B10E159E0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6C8AB8-7B45-4B6D-88D1-56094C1214BC}" type="datetime1">
              <a:rPr lang="en-US" altLang="zh-TW" smtClean="0"/>
              <a:t>9/6/2025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1B46917-10DA-C0F2-874F-97B9A6B44E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A41870-2417-F348-EEE9-94CCEE3906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EF352-69AB-41EA-ACFB-7D18FFDBCB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0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502.13693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zh.wikipedia.org/zh-tw/Transformer%E6%9E%B6%E6%9E%8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502.13693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2.1369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.mendeley.com/datasets/dvntn9yhd2/1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2.13693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kaggle.com/datasets/bmadushanirodrigo/fracture-multi-region-x-ray-data/data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hyperlink" Target="https://www.kaggle.com/datasets/pkdarabi/bone-break-classification-image-dataset?resource=download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10" Type="http://schemas.openxmlformats.org/officeDocument/2006/relationships/image" Target="../media/image19.pn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5A681-CF2A-5614-8F5B-24900B700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94445" y="2198598"/>
            <a:ext cx="12286445" cy="1230402"/>
          </a:xfrm>
        </p:spPr>
        <p:txBody>
          <a:bodyPr>
            <a:normAutofit/>
          </a:bodyPr>
          <a:lstStyle/>
          <a:p>
            <a:r>
              <a:rPr lang="en-US" sz="3600" dirty="0"/>
              <a:t>Homework1 Presentation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2B60184-B3EF-953E-C3E7-40EDD9CEF9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Institute of Biomedical Informatics</a:t>
            </a:r>
          </a:p>
          <a:p>
            <a:r>
              <a:rPr lang="en-US" altLang="zh-TW" dirty="0"/>
              <a:t>You-Lin Lin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BD1C5B-EC10-418A-8392-38B577406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68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62F578-C92B-4990-B7A3-B9C5C0BD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E14270A-51CC-4F63-8DC4-42672C22E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6825" y="1993876"/>
            <a:ext cx="12545649" cy="350540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5F48FB49-322E-4CA6-9A98-B602276319AC}"/>
              </a:ext>
            </a:extLst>
          </p:cNvPr>
          <p:cNvSpPr txBox="1"/>
          <p:nvPr/>
        </p:nvSpPr>
        <p:spPr>
          <a:xfrm>
            <a:off x="5683963" y="4879145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4"/>
              </a:rPr>
              <a:t>Source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D7E2587-2C6A-4868-B35E-8F746D858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6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50FD3-0983-40A3-99C4-1905F821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790"/>
            <a:ext cx="6012224" cy="1325563"/>
          </a:xfrm>
        </p:spPr>
        <p:txBody>
          <a:bodyPr>
            <a:normAutofit/>
          </a:bodyPr>
          <a:lstStyle/>
          <a:p>
            <a:r>
              <a:rPr lang="en-US" altLang="zh-TW" sz="3600" dirty="0"/>
              <a:t>1. Integrating KAN (Kolmogorov-Arnold Network)</a:t>
            </a:r>
            <a:endParaRPr lang="zh-TW" altLang="en-US" sz="3600" dirty="0"/>
          </a:p>
        </p:txBody>
      </p:sp>
      <p:pic>
        <p:nvPicPr>
          <p:cNvPr id="1026" name="Picture 2" descr="transformer架構- 維基百科，自由的百科全書">
            <a:extLst>
              <a:ext uri="{FF2B5EF4-FFF2-40B4-BE49-F238E27FC236}">
                <a16:creationId xmlns:a16="http://schemas.microsoft.com/office/drawing/2014/main" id="{A4DF6571-BFD3-42A4-99F5-3711403ED3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057"/>
          <a:stretch/>
        </p:blipFill>
        <p:spPr bwMode="auto">
          <a:xfrm>
            <a:off x="7389947" y="-2430808"/>
            <a:ext cx="3963853" cy="850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4715D07D-B20A-40A7-9BBA-74D9AA08C4B1}"/>
              </a:ext>
            </a:extLst>
          </p:cNvPr>
          <p:cNvSpPr txBox="1"/>
          <p:nvPr/>
        </p:nvSpPr>
        <p:spPr>
          <a:xfrm>
            <a:off x="8999112" y="6024065"/>
            <a:ext cx="2621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4"/>
              </a:rPr>
              <a:t>Transformer architecture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90DEA511-B128-44EC-854A-8B82C7F947C8}"/>
              </a:ext>
            </a:extLst>
          </p:cNvPr>
          <p:cNvSpPr txBox="1"/>
          <p:nvPr/>
        </p:nvSpPr>
        <p:spPr>
          <a:xfrm>
            <a:off x="885738" y="1930353"/>
            <a:ext cx="6098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It reduces computational complexity (FLOPs) by 44% yet achieves a significant improvement in accuracy.</a:t>
            </a:r>
            <a:endParaRPr lang="zh-TW" altLang="en-US" sz="24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524C05-C584-49B7-9D1B-758A681E288C}"/>
              </a:ext>
            </a:extLst>
          </p:cNvPr>
          <p:cNvSpPr/>
          <p:nvPr/>
        </p:nvSpPr>
        <p:spPr>
          <a:xfrm>
            <a:off x="9371873" y="1390918"/>
            <a:ext cx="1768352" cy="6825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5989225-9BA5-42B4-8ED0-8B824BE9F34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8233"/>
          <a:stretch/>
        </p:blipFill>
        <p:spPr>
          <a:xfrm>
            <a:off x="362201" y="3938001"/>
            <a:ext cx="8369992" cy="2296746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9F9C6D7-EAAB-4D2C-8BBA-8E369AD0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45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ADE505-5B64-47A9-AE6D-6E265475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2. </a:t>
            </a:r>
            <a:r>
              <a:rPr lang="en-US" altLang="zh-TW" sz="3600" dirty="0" err="1"/>
              <a:t>DiNA</a:t>
            </a:r>
            <a:r>
              <a:rPr lang="en-US" altLang="zh-TW" sz="3600" dirty="0"/>
              <a:t> (Dilated Neighborhood Attention)</a:t>
            </a:r>
            <a:endParaRPr lang="zh-TW" altLang="en-US" sz="3600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679DD28-7A91-4F63-B88D-F2634DBFA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5841970"/>
              </p:ext>
            </p:extLst>
          </p:nvPr>
        </p:nvGraphicFramePr>
        <p:xfrm>
          <a:off x="1757250" y="3086118"/>
          <a:ext cx="2565756" cy="18303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252">
                  <a:extLst>
                    <a:ext uri="{9D8B030D-6E8A-4147-A177-3AD203B41FA5}">
                      <a16:colId xmlns:a16="http://schemas.microsoft.com/office/drawing/2014/main" val="2397604339"/>
                    </a:ext>
                  </a:extLst>
                </a:gridCol>
                <a:gridCol w="855252">
                  <a:extLst>
                    <a:ext uri="{9D8B030D-6E8A-4147-A177-3AD203B41FA5}">
                      <a16:colId xmlns:a16="http://schemas.microsoft.com/office/drawing/2014/main" val="4148669179"/>
                    </a:ext>
                  </a:extLst>
                </a:gridCol>
                <a:gridCol w="855252">
                  <a:extLst>
                    <a:ext uri="{9D8B030D-6E8A-4147-A177-3AD203B41FA5}">
                      <a16:colId xmlns:a16="http://schemas.microsoft.com/office/drawing/2014/main" val="4114763027"/>
                    </a:ext>
                  </a:extLst>
                </a:gridCol>
              </a:tblGrid>
              <a:tr h="61011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267608"/>
                  </a:ext>
                </a:extLst>
              </a:tr>
              <a:tr h="61011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31053"/>
                  </a:ext>
                </a:extLst>
              </a:tr>
              <a:tr h="61011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619262"/>
                  </a:ext>
                </a:extLst>
              </a:tr>
            </a:tbl>
          </a:graphicData>
        </a:graphic>
      </p:graphicFrame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BDAFE2C-58CC-4B57-A5C0-D83A69344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0684"/>
              </p:ext>
            </p:extLst>
          </p:nvPr>
        </p:nvGraphicFramePr>
        <p:xfrm>
          <a:off x="6619740" y="2664376"/>
          <a:ext cx="3815010" cy="2937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002">
                  <a:extLst>
                    <a:ext uri="{9D8B030D-6E8A-4147-A177-3AD203B41FA5}">
                      <a16:colId xmlns:a16="http://schemas.microsoft.com/office/drawing/2014/main" val="2126576927"/>
                    </a:ext>
                  </a:extLst>
                </a:gridCol>
                <a:gridCol w="763002">
                  <a:extLst>
                    <a:ext uri="{9D8B030D-6E8A-4147-A177-3AD203B41FA5}">
                      <a16:colId xmlns:a16="http://schemas.microsoft.com/office/drawing/2014/main" val="794914557"/>
                    </a:ext>
                  </a:extLst>
                </a:gridCol>
                <a:gridCol w="763002">
                  <a:extLst>
                    <a:ext uri="{9D8B030D-6E8A-4147-A177-3AD203B41FA5}">
                      <a16:colId xmlns:a16="http://schemas.microsoft.com/office/drawing/2014/main" val="3740679732"/>
                    </a:ext>
                  </a:extLst>
                </a:gridCol>
                <a:gridCol w="763002">
                  <a:extLst>
                    <a:ext uri="{9D8B030D-6E8A-4147-A177-3AD203B41FA5}">
                      <a16:colId xmlns:a16="http://schemas.microsoft.com/office/drawing/2014/main" val="1857511548"/>
                    </a:ext>
                  </a:extLst>
                </a:gridCol>
                <a:gridCol w="763002">
                  <a:extLst>
                    <a:ext uri="{9D8B030D-6E8A-4147-A177-3AD203B41FA5}">
                      <a16:colId xmlns:a16="http://schemas.microsoft.com/office/drawing/2014/main" val="3332899209"/>
                    </a:ext>
                  </a:extLst>
                </a:gridCol>
              </a:tblGrid>
              <a:tr h="58758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983748"/>
                  </a:ext>
                </a:extLst>
              </a:tr>
              <a:tr h="58758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297317"/>
                  </a:ext>
                </a:extLst>
              </a:tr>
              <a:tr h="58758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849452"/>
                  </a:ext>
                </a:extLst>
              </a:tr>
              <a:tr h="587587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376632"/>
                  </a:ext>
                </a:extLst>
              </a:tr>
              <a:tr h="587587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B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84787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1544F3BB-272F-4F34-BFC9-7910AD01CD67}"/>
              </a:ext>
            </a:extLst>
          </p:cNvPr>
          <p:cNvSpPr txBox="1"/>
          <p:nvPr/>
        </p:nvSpPr>
        <p:spPr>
          <a:xfrm>
            <a:off x="1374819" y="4916469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MedViT</a:t>
            </a:r>
            <a:r>
              <a:rPr lang="en-US" altLang="zh-TW" dirty="0"/>
              <a:t> V1: Neighborhood Attention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FC72942-03BD-438E-8096-D40F6412EB4A}"/>
              </a:ext>
            </a:extLst>
          </p:cNvPr>
          <p:cNvSpPr txBox="1"/>
          <p:nvPr/>
        </p:nvSpPr>
        <p:spPr>
          <a:xfrm>
            <a:off x="6487732" y="5602311"/>
            <a:ext cx="609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 err="1"/>
              <a:t>MedViT</a:t>
            </a:r>
            <a:r>
              <a:rPr lang="en-US" altLang="zh-TW" dirty="0"/>
              <a:t> V2: Dilated Neighborhood Attention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6A380E-C278-492B-8C71-D65BBCEAD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5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8BE02B-802D-4E50-9A89-9F511498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600" dirty="0"/>
              <a:t>3. Hierarchical Hybrid Strategy</a:t>
            </a:r>
            <a:endParaRPr lang="zh-TW" altLang="en-US" sz="3600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0CE4B9-9FA2-4CE4-8A39-684593CAB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062D11-D688-415B-8004-BEE4F594E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276" y="1262757"/>
            <a:ext cx="7983424" cy="547707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19A1D98-96E7-403F-8DFB-F0057BDF916F}"/>
              </a:ext>
            </a:extLst>
          </p:cNvPr>
          <p:cNvSpPr txBox="1"/>
          <p:nvPr/>
        </p:nvSpPr>
        <p:spPr>
          <a:xfrm>
            <a:off x="8770063" y="6343713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4"/>
              </a:rPr>
              <a:t>Source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661D7A-F8DF-448D-AC96-E8F7D70E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35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4E8AD1-2E57-3ADA-8CDF-3DD1EDF7A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56DF82-A9E5-4580-A39E-3F503D3EF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767" y="1791260"/>
            <a:ext cx="8306959" cy="401058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7DA5D7B-6400-4A9B-945F-4DFD0EEFF5AD}"/>
              </a:ext>
            </a:extLst>
          </p:cNvPr>
          <p:cNvSpPr/>
          <p:nvPr/>
        </p:nvSpPr>
        <p:spPr>
          <a:xfrm>
            <a:off x="1972235" y="2814918"/>
            <a:ext cx="8059271" cy="295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0BF9F6D-F343-4763-8485-76460AC12AE5}"/>
              </a:ext>
            </a:extLst>
          </p:cNvPr>
          <p:cNvSpPr txBox="1"/>
          <p:nvPr/>
        </p:nvSpPr>
        <p:spPr>
          <a:xfrm>
            <a:off x="5589834" y="5801845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3"/>
              </a:rPr>
              <a:t>Source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69E66F7-1284-4C52-A302-0C9C7DC73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2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8DE56E9-1329-458D-A7F7-918B853EE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27D25F6-878D-4CE0-9FE8-E83F34C1E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00" y="1527731"/>
            <a:ext cx="9559000" cy="335803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DB8C902-BA05-424F-B6CA-328A764D1CC0}"/>
              </a:ext>
            </a:extLst>
          </p:cNvPr>
          <p:cNvSpPr txBox="1"/>
          <p:nvPr/>
        </p:nvSpPr>
        <p:spPr>
          <a:xfrm>
            <a:off x="1316500" y="5011288"/>
            <a:ext cx="9736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Kumar, Sachin (2022), “Covid19-Pneumonia-Normal Chest X-Ray Images”, Mendeley Data, V1, doi: 10.17632/dvntn9yhd2.1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8A5234C-92C0-4D14-99CB-A94C3E847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3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A1C82-7B2A-45B8-AB02-45ED89CE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(hyperparameters)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37964D6-0A92-4525-B1BF-6DD670560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283" y="1690688"/>
            <a:ext cx="8297433" cy="362953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A7D407-A238-4271-B757-64CEBF1AF07F}"/>
              </a:ext>
            </a:extLst>
          </p:cNvPr>
          <p:cNvSpPr/>
          <p:nvPr/>
        </p:nvSpPr>
        <p:spPr>
          <a:xfrm>
            <a:off x="2398057" y="5076705"/>
            <a:ext cx="8059271" cy="295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D2C35D-4BA1-407A-9148-88E2454C21FF}"/>
              </a:ext>
            </a:extLst>
          </p:cNvPr>
          <p:cNvSpPr txBox="1"/>
          <p:nvPr/>
        </p:nvSpPr>
        <p:spPr>
          <a:xfrm>
            <a:off x="5683963" y="5458945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3"/>
              </a:rPr>
              <a:t>Source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C720325-1554-4DE8-A2D5-9F263982A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86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C3504B-B70B-4DEA-BFA4-DFB071CD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(hyperparameters)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B529663-C754-4025-A77C-FEB9A9776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485863"/>
              </p:ext>
            </p:extLst>
          </p:nvPr>
        </p:nvGraphicFramePr>
        <p:xfrm>
          <a:off x="1884531" y="2104967"/>
          <a:ext cx="3518646" cy="1874520"/>
        </p:xfrm>
        <a:graphic>
          <a:graphicData uri="http://schemas.openxmlformats.org/drawingml/2006/table">
            <a:tbl>
              <a:tblPr/>
              <a:tblGrid>
                <a:gridCol w="1759323">
                  <a:extLst>
                    <a:ext uri="{9D8B030D-6E8A-4147-A177-3AD203B41FA5}">
                      <a16:colId xmlns:a16="http://schemas.microsoft.com/office/drawing/2014/main" val="100018879"/>
                    </a:ext>
                  </a:extLst>
                </a:gridCol>
                <a:gridCol w="1759323">
                  <a:extLst>
                    <a:ext uri="{9D8B030D-6E8A-4147-A177-3AD203B41FA5}">
                      <a16:colId xmlns:a16="http://schemas.microsoft.com/office/drawing/2014/main" val="586637263"/>
                    </a:ext>
                  </a:extLst>
                </a:gridCol>
              </a:tblGrid>
              <a:tr h="19957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Hyperparameters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3287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model_name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MedViT_small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41946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batch_size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24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60927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lr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0.0001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95844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epochs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100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66021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pretrained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True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25301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B32C1DA-7747-48E7-9763-CA1B7C40C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868561"/>
              </p:ext>
            </p:extLst>
          </p:nvPr>
        </p:nvGraphicFramePr>
        <p:xfrm>
          <a:off x="1884531" y="4585480"/>
          <a:ext cx="8561609" cy="1211580"/>
        </p:xfrm>
        <a:graphic>
          <a:graphicData uri="http://schemas.openxmlformats.org/drawingml/2006/table">
            <a:tbl>
              <a:tblPr/>
              <a:tblGrid>
                <a:gridCol w="1426935">
                  <a:extLst>
                    <a:ext uri="{9D8B030D-6E8A-4147-A177-3AD203B41FA5}">
                      <a16:colId xmlns:a16="http://schemas.microsoft.com/office/drawing/2014/main" val="854157070"/>
                    </a:ext>
                  </a:extLst>
                </a:gridCol>
                <a:gridCol w="1426935">
                  <a:extLst>
                    <a:ext uri="{9D8B030D-6E8A-4147-A177-3AD203B41FA5}">
                      <a16:colId xmlns:a16="http://schemas.microsoft.com/office/drawing/2014/main" val="1472691448"/>
                    </a:ext>
                  </a:extLst>
                </a:gridCol>
                <a:gridCol w="1426935">
                  <a:extLst>
                    <a:ext uri="{9D8B030D-6E8A-4147-A177-3AD203B41FA5}">
                      <a16:colId xmlns:a16="http://schemas.microsoft.com/office/drawing/2014/main" val="3171067439"/>
                    </a:ext>
                  </a:extLst>
                </a:gridCol>
                <a:gridCol w="1493871">
                  <a:extLst>
                    <a:ext uri="{9D8B030D-6E8A-4147-A177-3AD203B41FA5}">
                      <a16:colId xmlns:a16="http://schemas.microsoft.com/office/drawing/2014/main" val="1486753036"/>
                    </a:ext>
                  </a:extLst>
                </a:gridCol>
                <a:gridCol w="1359998">
                  <a:extLst>
                    <a:ext uri="{9D8B030D-6E8A-4147-A177-3AD203B41FA5}">
                      <a16:colId xmlns:a16="http://schemas.microsoft.com/office/drawing/2014/main" val="488054576"/>
                    </a:ext>
                  </a:extLst>
                </a:gridCol>
                <a:gridCol w="1426935">
                  <a:extLst>
                    <a:ext uri="{9D8B030D-6E8A-4147-A177-3AD203B41FA5}">
                      <a16:colId xmlns:a16="http://schemas.microsoft.com/office/drawing/2014/main" val="1931195436"/>
                    </a:ext>
                  </a:extLst>
                </a:gridCol>
              </a:tblGrid>
              <a:tr h="223397">
                <a:tc>
                  <a:txBody>
                    <a:bodyPr/>
                    <a:lstStyle/>
                    <a:p>
                      <a:pPr algn="ctr" rtl="0" fontAlgn="b"/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Accuracy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Precision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Recall (Sensitivity)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Specificity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dirty="0">
                          <a:effectLst/>
                        </a:rPr>
                        <a:t>F1-Score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5883022"/>
                  </a:ext>
                </a:extLst>
              </a:tr>
              <a:tr h="11895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My result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95.7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95.6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97.7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95.5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2703392"/>
                  </a:ext>
                </a:extLst>
              </a:tr>
              <a:tr h="118952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Paper result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98.2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98.2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98.2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99.1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dirty="0">
                          <a:effectLst/>
                        </a:rPr>
                        <a:t>98.2</a:t>
                      </a:r>
                    </a:p>
                  </a:txBody>
                  <a:tcPr marL="28575" marR="28575" marT="19050" marB="190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891888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8445F13A-D4B0-4AFC-B482-8B8060B86CCA}"/>
              </a:ext>
            </a:extLst>
          </p:cNvPr>
          <p:cNvSpPr txBox="1"/>
          <p:nvPr/>
        </p:nvSpPr>
        <p:spPr>
          <a:xfrm>
            <a:off x="1811991" y="17356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Replicated using the default configuration.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E44B993-11F6-4E90-8150-C9DB05DF5CF0}"/>
              </a:ext>
            </a:extLst>
          </p:cNvPr>
          <p:cNvSpPr txBox="1"/>
          <p:nvPr/>
        </p:nvSpPr>
        <p:spPr>
          <a:xfrm>
            <a:off x="1811991" y="4216148"/>
            <a:ext cx="205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Model Performance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CDCCDE-F91C-434D-9A92-E2E43B6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3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2A864210-AC97-4297-A41A-3DDBF72C4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861" y="2309477"/>
            <a:ext cx="2133600" cy="217237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0C01AA8-32FA-4F09-830E-11C40AA90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7975" y="2299061"/>
            <a:ext cx="1676400" cy="217237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E0D13A7-34EE-4D94-8DE6-7B948B640E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879" y="4595722"/>
            <a:ext cx="2896496" cy="2172372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B9DA8AE-12A3-4401-BB4C-E9D8902DA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801219"/>
              </p:ext>
            </p:extLst>
          </p:nvPr>
        </p:nvGraphicFramePr>
        <p:xfrm>
          <a:off x="963147" y="3186033"/>
          <a:ext cx="6647328" cy="2194560"/>
        </p:xfrm>
        <a:graphic>
          <a:graphicData uri="http://schemas.openxmlformats.org/drawingml/2006/table">
            <a:tbl>
              <a:tblPr/>
              <a:tblGrid>
                <a:gridCol w="1661832">
                  <a:extLst>
                    <a:ext uri="{9D8B030D-6E8A-4147-A177-3AD203B41FA5}">
                      <a16:colId xmlns:a16="http://schemas.microsoft.com/office/drawing/2014/main" val="2335306485"/>
                    </a:ext>
                  </a:extLst>
                </a:gridCol>
                <a:gridCol w="1661832">
                  <a:extLst>
                    <a:ext uri="{9D8B030D-6E8A-4147-A177-3AD203B41FA5}">
                      <a16:colId xmlns:a16="http://schemas.microsoft.com/office/drawing/2014/main" val="533236900"/>
                    </a:ext>
                  </a:extLst>
                </a:gridCol>
                <a:gridCol w="1661832">
                  <a:extLst>
                    <a:ext uri="{9D8B030D-6E8A-4147-A177-3AD203B41FA5}">
                      <a16:colId xmlns:a16="http://schemas.microsoft.com/office/drawing/2014/main" val="4211584508"/>
                    </a:ext>
                  </a:extLst>
                </a:gridCol>
                <a:gridCol w="1661832">
                  <a:extLst>
                    <a:ext uri="{9D8B030D-6E8A-4147-A177-3AD203B41FA5}">
                      <a16:colId xmlns:a16="http://schemas.microsoft.com/office/drawing/2014/main" val="631994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7363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Split</a:t>
                      </a:r>
                    </a:p>
                  </a:txBody>
                  <a:tcPr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fractured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fractured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6972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4606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4634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9240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08598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337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5743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262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58407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Total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/>
                        <a:t>5181</a:t>
                      </a:r>
                      <a:endParaRPr lang="zh-TW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5382</a:t>
                      </a:r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b="1" dirty="0"/>
                        <a:t>10563</a:t>
                      </a:r>
                      <a:endParaRPr lang="zh-TW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10727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D90560CD-9660-49CC-BB1A-1DAAD292D1A7}"/>
              </a:ext>
            </a:extLst>
          </p:cNvPr>
          <p:cNvSpPr txBox="1"/>
          <p:nvPr/>
        </p:nvSpPr>
        <p:spPr>
          <a:xfrm>
            <a:off x="1033508" y="56722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Number of damaged images: 18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94AB1C8-1444-4BB3-9461-3246A88D9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43" y="2179822"/>
            <a:ext cx="7068536" cy="1305107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741DCC27-0D53-48AC-9DBD-9D2FFC85590E}"/>
              </a:ext>
            </a:extLst>
          </p:cNvPr>
          <p:cNvSpPr txBox="1"/>
          <p:nvPr/>
        </p:nvSpPr>
        <p:spPr>
          <a:xfrm>
            <a:off x="963147" y="5380593"/>
            <a:ext cx="8066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Image rotation augmentation is applied to the training, validation, and test sets.</a:t>
            </a:r>
            <a:endParaRPr lang="zh-TW" altLang="en-US" dirty="0"/>
          </a:p>
        </p:txBody>
      </p:sp>
      <p:sp>
        <p:nvSpPr>
          <p:cNvPr id="14" name="標題 1">
            <a:extLst>
              <a:ext uri="{FF2B5EF4-FFF2-40B4-BE49-F238E27FC236}">
                <a16:creationId xmlns:a16="http://schemas.microsoft.com/office/drawing/2014/main" id="{3EF03E45-EE3E-4954-8A5B-AA73FBD7F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08075"/>
            <a:ext cx="10515600" cy="1325563"/>
          </a:xfrm>
        </p:spPr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B655A4B-F368-4BB6-8F25-0C27163DDDCF}"/>
              </a:ext>
            </a:extLst>
          </p:cNvPr>
          <p:cNvSpPr txBox="1"/>
          <p:nvPr/>
        </p:nvSpPr>
        <p:spPr>
          <a:xfrm>
            <a:off x="2933768" y="147740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6"/>
              </a:rPr>
              <a:t>https://www.kaggle.com/datasets/bmadushanirodrigo/fracture-multi-region-x-ray-data/data</a:t>
            </a:r>
            <a:endParaRPr lang="zh-TW" altLang="en-US" dirty="0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4FC740E-5C85-48B3-B68F-3CE52AC7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93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D0679A-6EA6-42A5-AAD6-A147D71F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(hyperparameters)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7A1C8A9-B019-4393-BD6C-DC538C458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893960"/>
              </p:ext>
            </p:extLst>
          </p:nvPr>
        </p:nvGraphicFramePr>
        <p:xfrm>
          <a:off x="1219200" y="2278717"/>
          <a:ext cx="3518646" cy="1874520"/>
        </p:xfrm>
        <a:graphic>
          <a:graphicData uri="http://schemas.openxmlformats.org/drawingml/2006/table">
            <a:tbl>
              <a:tblPr/>
              <a:tblGrid>
                <a:gridCol w="1759323">
                  <a:extLst>
                    <a:ext uri="{9D8B030D-6E8A-4147-A177-3AD203B41FA5}">
                      <a16:colId xmlns:a16="http://schemas.microsoft.com/office/drawing/2014/main" val="100018879"/>
                    </a:ext>
                  </a:extLst>
                </a:gridCol>
                <a:gridCol w="1759323">
                  <a:extLst>
                    <a:ext uri="{9D8B030D-6E8A-4147-A177-3AD203B41FA5}">
                      <a16:colId xmlns:a16="http://schemas.microsoft.com/office/drawing/2014/main" val="586637263"/>
                    </a:ext>
                  </a:extLst>
                </a:gridCol>
              </a:tblGrid>
              <a:tr h="199576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Hyperparameters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zh-TW" alt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83287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model_name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MedViT_small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7419466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batch_size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24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609275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lr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0.0001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495844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epochs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altLang="zh-TW" dirty="0">
                          <a:effectLst/>
                        </a:rPr>
                        <a:t>100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66021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pretrained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True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4253016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C1CB2DC8-F462-4244-BC26-927965172E71}"/>
              </a:ext>
            </a:extLst>
          </p:cNvPr>
          <p:cNvSpPr txBox="1"/>
          <p:nvPr/>
        </p:nvSpPr>
        <p:spPr>
          <a:xfrm>
            <a:off x="1145241" y="19478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Replicated using the default configuration.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FA7FAD5-7140-4D58-B7A8-33038F207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128173"/>
              </p:ext>
            </p:extLst>
          </p:nvPr>
        </p:nvGraphicFramePr>
        <p:xfrm>
          <a:off x="5629274" y="2278717"/>
          <a:ext cx="4429126" cy="2194560"/>
        </p:xfrm>
        <a:graphic>
          <a:graphicData uri="http://schemas.openxmlformats.org/drawingml/2006/table">
            <a:tbl>
              <a:tblPr/>
              <a:tblGrid>
                <a:gridCol w="2214563">
                  <a:extLst>
                    <a:ext uri="{9D8B030D-6E8A-4147-A177-3AD203B41FA5}">
                      <a16:colId xmlns:a16="http://schemas.microsoft.com/office/drawing/2014/main" val="3524906648"/>
                    </a:ext>
                  </a:extLst>
                </a:gridCol>
                <a:gridCol w="2214563">
                  <a:extLst>
                    <a:ext uri="{9D8B030D-6E8A-4147-A177-3AD203B41FA5}">
                      <a16:colId xmlns:a16="http://schemas.microsoft.com/office/drawing/2014/main" val="3362035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38101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Precision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98.41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009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Recall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98.40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059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Specificity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98.36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9008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F1-Score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98.40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929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Overall Accuracy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98.40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028201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6D85061C-477F-44F8-B505-06B3761959DE}"/>
              </a:ext>
            </a:extLst>
          </p:cNvPr>
          <p:cNvSpPr txBox="1"/>
          <p:nvPr/>
        </p:nvSpPr>
        <p:spPr>
          <a:xfrm>
            <a:off x="5629274" y="1947820"/>
            <a:ext cx="205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Model Performance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0187196-16D8-44B9-80DD-89172390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06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460AFC-0225-2461-BC02-E65E1635D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B19CB1C-0273-4F94-8BBB-A8063FC91A1F}"/>
              </a:ext>
            </a:extLst>
          </p:cNvPr>
          <p:cNvSpPr txBox="1"/>
          <p:nvPr/>
        </p:nvSpPr>
        <p:spPr>
          <a:xfrm>
            <a:off x="723900" y="1497517"/>
            <a:ext cx="85404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 dataset of X-ray images designed classify different types of bone fractures. </a:t>
            </a:r>
          </a:p>
          <a:p>
            <a:r>
              <a:rPr lang="en-US" altLang="zh-TW" dirty="0"/>
              <a:t>For each fracture category, the images are already pre-split into train and test directories.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95C671C-E68F-42A9-875A-92F5EF9D1A9E}"/>
              </a:ext>
            </a:extLst>
          </p:cNvPr>
          <p:cNvSpPr txBox="1"/>
          <p:nvPr/>
        </p:nvSpPr>
        <p:spPr>
          <a:xfrm>
            <a:off x="8090417" y="343888"/>
            <a:ext cx="38480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2"/>
              </a:rPr>
              <a:t>https://www.kaggle.com/datasets/pkdarabi/bone-break-classification-image-dataset?resource=download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7CB5DEB-BE1C-434B-B7DF-26446B462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739112"/>
              </p:ext>
            </p:extLst>
          </p:nvPr>
        </p:nvGraphicFramePr>
        <p:xfrm>
          <a:off x="235458" y="2286871"/>
          <a:ext cx="7353164" cy="4186176"/>
        </p:xfrm>
        <a:graphic>
          <a:graphicData uri="http://schemas.openxmlformats.org/drawingml/2006/table">
            <a:tbl>
              <a:tblPr/>
              <a:tblGrid>
                <a:gridCol w="1838291">
                  <a:extLst>
                    <a:ext uri="{9D8B030D-6E8A-4147-A177-3AD203B41FA5}">
                      <a16:colId xmlns:a16="http://schemas.microsoft.com/office/drawing/2014/main" val="992487525"/>
                    </a:ext>
                  </a:extLst>
                </a:gridCol>
                <a:gridCol w="1838291">
                  <a:extLst>
                    <a:ext uri="{9D8B030D-6E8A-4147-A177-3AD203B41FA5}">
                      <a16:colId xmlns:a16="http://schemas.microsoft.com/office/drawing/2014/main" val="3611337900"/>
                    </a:ext>
                  </a:extLst>
                </a:gridCol>
                <a:gridCol w="1838291">
                  <a:extLst>
                    <a:ext uri="{9D8B030D-6E8A-4147-A177-3AD203B41FA5}">
                      <a16:colId xmlns:a16="http://schemas.microsoft.com/office/drawing/2014/main" val="3538164514"/>
                    </a:ext>
                  </a:extLst>
                </a:gridCol>
                <a:gridCol w="1838291">
                  <a:extLst>
                    <a:ext uri="{9D8B030D-6E8A-4147-A177-3AD203B41FA5}">
                      <a16:colId xmlns:a16="http://schemas.microsoft.com/office/drawing/2014/main" val="3446437151"/>
                    </a:ext>
                  </a:extLst>
                </a:gridCol>
              </a:tblGrid>
              <a:tr h="2236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dirty="0">
                          <a:effectLst/>
                        </a:rPr>
                        <a:t>Fracture Type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dirty="0">
                          <a:effectLst/>
                        </a:rPr>
                        <a:t>Train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>
                          <a:effectLst/>
                        </a:rPr>
                        <a:t>Test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600" dirty="0">
                          <a:effectLst/>
                        </a:rPr>
                        <a:t>Total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681870"/>
                  </a:ext>
                </a:extLst>
              </a:tr>
              <a:tr h="43277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dirty="0">
                          <a:effectLst/>
                        </a:rPr>
                        <a:t>Impacted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75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9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84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5866884"/>
                  </a:ext>
                </a:extLst>
              </a:tr>
              <a:tr h="2236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Oblique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69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16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85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117038"/>
                  </a:ext>
                </a:extLst>
              </a:tr>
              <a:tr h="2236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Avulsion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109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14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123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6736356"/>
                  </a:ext>
                </a:extLst>
              </a:tr>
              <a:tr h="43277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Comminuted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134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14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148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9213264"/>
                  </a:ext>
                </a:extLst>
              </a:tr>
              <a:tr h="2236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Spiral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74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12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86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4566344"/>
                  </a:ext>
                </a:extLst>
              </a:tr>
              <a:tr h="43277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Greenstick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106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16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122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0102420"/>
                  </a:ext>
                </a:extLst>
              </a:tr>
              <a:tr h="43277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Longitudinal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68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12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80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3448133"/>
                  </a:ext>
                </a:extLst>
              </a:tr>
              <a:tr h="2236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>
                          <a:effectLst/>
                        </a:rPr>
                        <a:t>Hairline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101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10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111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333945"/>
                  </a:ext>
                </a:extLst>
              </a:tr>
              <a:tr h="43277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dirty="0">
                          <a:effectLst/>
                        </a:rPr>
                        <a:t>Fracture Dislocation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137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19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156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488838"/>
                  </a:ext>
                </a:extLst>
              </a:tr>
              <a:tr h="432774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dirty="0">
                          <a:effectLst/>
                        </a:rPr>
                        <a:t>Pathological fracture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116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18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134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4684071"/>
                  </a:ext>
                </a:extLst>
              </a:tr>
              <a:tr h="223620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600" dirty="0">
                          <a:effectLst/>
                        </a:rPr>
                        <a:t>Total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>
                          <a:effectLst/>
                        </a:rPr>
                        <a:t>989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140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zh-TW" sz="1600" dirty="0">
                          <a:effectLst/>
                        </a:rPr>
                        <a:t>1129</a:t>
                      </a:r>
                    </a:p>
                  </a:txBody>
                  <a:tcPr marL="15812" marR="15812" marT="10541" marB="1054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1260392"/>
                  </a:ext>
                </a:extLst>
              </a:tr>
            </a:tbl>
          </a:graphicData>
        </a:graphic>
      </p:graphicFrame>
      <p:pic>
        <p:nvPicPr>
          <p:cNvPr id="9" name="圖片 8">
            <a:extLst>
              <a:ext uri="{FF2B5EF4-FFF2-40B4-BE49-F238E27FC236}">
                <a16:creationId xmlns:a16="http://schemas.microsoft.com/office/drawing/2014/main" id="{2AF2BE76-968B-4684-A4B8-34415B925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622" y="2286871"/>
            <a:ext cx="1429871" cy="142987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43BBE28-ED86-41E0-B0D1-FC3D1C641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8" y="2300798"/>
            <a:ext cx="1429871" cy="141594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9D3BC5C-059B-4058-9809-623D68E92A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677200" y="2286871"/>
            <a:ext cx="1415944" cy="141594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12555B5B-F450-4F60-8F41-2AF216CF37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622" y="3820786"/>
            <a:ext cx="1003590" cy="175971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2674D49E-F49B-4A44-B721-C9C991D06B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7139" y="3820785"/>
            <a:ext cx="1759719" cy="175971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366D70C1-9341-4B66-8979-09BD967493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594134" y="3820784"/>
            <a:ext cx="699482" cy="175972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6FE07EAC-0949-4C94-B168-AB59C3C4EF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893835" y="4381196"/>
            <a:ext cx="1759720" cy="63889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53D5C11-E47B-40F8-9370-96BEE7E861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226" y="343888"/>
            <a:ext cx="7201905" cy="1171739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5174625-A06A-4116-8AE2-9837778C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30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43A45-7354-48F8-916E-647DCF33C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 (hyperparameters)</a:t>
            </a:r>
            <a:endParaRPr lang="zh-TW" altLang="en-US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B4E3639-19AA-4A55-B3E7-43681FF2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49268"/>
              </p:ext>
            </p:extLst>
          </p:nvPr>
        </p:nvGraphicFramePr>
        <p:xfrm>
          <a:off x="1409700" y="1861568"/>
          <a:ext cx="9372600" cy="4631307"/>
        </p:xfrm>
        <a:graphic>
          <a:graphicData uri="http://schemas.openxmlformats.org/drawingml/2006/table">
            <a:tbl>
              <a:tblPr/>
              <a:tblGrid>
                <a:gridCol w="1962733">
                  <a:extLst>
                    <a:ext uri="{9D8B030D-6E8A-4147-A177-3AD203B41FA5}">
                      <a16:colId xmlns:a16="http://schemas.microsoft.com/office/drawing/2014/main" val="142016898"/>
                    </a:ext>
                  </a:extLst>
                </a:gridCol>
                <a:gridCol w="1786307">
                  <a:extLst>
                    <a:ext uri="{9D8B030D-6E8A-4147-A177-3AD203B41FA5}">
                      <a16:colId xmlns:a16="http://schemas.microsoft.com/office/drawing/2014/main" val="192242268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196725107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3042368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1670973722"/>
                    </a:ext>
                  </a:extLst>
                </a:gridCol>
              </a:tblGrid>
              <a:tr h="553165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/>
                        <a:t>Hyperparameters</a:t>
                      </a:r>
                      <a:endParaRPr lang="zh-TW" altLang="en-US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/>
                        <a:t>Experiment 1 </a:t>
                      </a:r>
                      <a:endParaRPr lang="en-US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Experiment</a:t>
                      </a:r>
                      <a:r>
                        <a:rPr lang="zh-TW" altLang="en-US" sz="1800" dirty="0">
                          <a:effectLst/>
                        </a:rPr>
                        <a:t> </a:t>
                      </a:r>
                      <a:r>
                        <a:rPr lang="en-US" altLang="zh-TW" sz="1800" dirty="0">
                          <a:effectLst/>
                        </a:rPr>
                        <a:t>2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/>
                        <a:t>Experiment</a:t>
                      </a:r>
                      <a:r>
                        <a:rPr lang="zh-TW" altLang="en-US" sz="1800" dirty="0">
                          <a:effectLst/>
                        </a:rPr>
                        <a:t> </a:t>
                      </a:r>
                      <a:r>
                        <a:rPr lang="en-US" altLang="zh-TW" sz="1800" dirty="0">
                          <a:effectLst/>
                        </a:rPr>
                        <a:t>3</a:t>
                      </a:r>
                      <a:endParaRPr lang="en-US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/>
                        <a:t>Experiment</a:t>
                      </a:r>
                      <a:r>
                        <a:rPr lang="zh-TW" altLang="en-US" sz="1800" dirty="0">
                          <a:effectLst/>
                        </a:rPr>
                        <a:t> </a:t>
                      </a:r>
                      <a:r>
                        <a:rPr lang="en-US" altLang="zh-TW" sz="1800" dirty="0">
                          <a:effectLst/>
                        </a:rPr>
                        <a:t>4</a:t>
                      </a:r>
                      <a:endParaRPr lang="en-US" sz="1800" dirty="0">
                        <a:effectLst/>
                      </a:endParaRPr>
                    </a:p>
                  </a:txBody>
                  <a:tcPr marL="0" marR="0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5404073"/>
                  </a:ext>
                </a:extLst>
              </a:tr>
              <a:tr h="37693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model_name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800" dirty="0" err="1">
                          <a:effectLst/>
                        </a:rPr>
                        <a:t>MedViT_small</a:t>
                      </a:r>
                      <a:endParaRPr lang="en-US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 err="1">
                          <a:effectLst/>
                        </a:rPr>
                        <a:t>MedViT_small</a:t>
                      </a:r>
                      <a:endParaRPr lang="en-US" altLang="zh-TW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800" dirty="0" err="1">
                          <a:effectLst/>
                        </a:rPr>
                        <a:t>MedViT_tiny</a:t>
                      </a:r>
                      <a:endParaRPr lang="en-US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800" dirty="0" err="1">
                          <a:effectLst/>
                        </a:rPr>
                        <a:t>MedViT_</a:t>
                      </a:r>
                      <a:r>
                        <a:rPr lang="en-US" altLang="zh-TW" sz="1800" dirty="0" err="1">
                          <a:effectLst/>
                        </a:rPr>
                        <a:t>tiny</a:t>
                      </a:r>
                      <a:endParaRPr lang="en-US" sz="1800" dirty="0">
                        <a:effectLst/>
                      </a:endParaRP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1500226"/>
                  </a:ext>
                </a:extLst>
              </a:tr>
              <a:tr h="37693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batch_size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24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64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64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64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7513576"/>
                  </a:ext>
                </a:extLst>
              </a:tr>
              <a:tr h="37693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 err="1">
                          <a:effectLst/>
                        </a:rPr>
                        <a:t>lr</a:t>
                      </a:r>
                      <a:endParaRPr lang="en-US" dirty="0">
                        <a:effectLst/>
                      </a:endParaRP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0.0001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</a:rPr>
                        <a:t>0.001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0.0001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0.0001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51595390"/>
                  </a:ext>
                </a:extLst>
              </a:tr>
              <a:tr h="297759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epochs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100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200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100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300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06227591"/>
                  </a:ext>
                </a:extLst>
              </a:tr>
              <a:tr h="376937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dirty="0">
                          <a:effectLst/>
                        </a:rPr>
                        <a:t>pretrained</a:t>
                      </a:r>
                    </a:p>
                  </a:txBody>
                  <a:tcPr marL="28575" marR="28575" marT="19050" marB="1905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TRUE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True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>
                          <a:effectLst/>
                        </a:rPr>
                        <a:t>TRUE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800" dirty="0">
                          <a:effectLst/>
                        </a:rPr>
                        <a:t>TRUE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60544331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>
                          <a:effectLst/>
                        </a:rPr>
                        <a:t>Result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>
                          <a:effectLst/>
                        </a:rPr>
                        <a:t>---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effectLst/>
                        </a:rPr>
                        <a:t>---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>
                          <a:effectLst/>
                        </a:rPr>
                        <a:t>---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altLang="zh-TW" sz="1800" dirty="0">
                          <a:effectLst/>
                        </a:rPr>
                        <a:t>---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5673399"/>
                  </a:ext>
                </a:extLst>
              </a:tr>
              <a:tr h="376937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</a:rPr>
                        <a:t>Val Accuracy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28.57%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15.00%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29.29%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37.14%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329710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</a:rPr>
                        <a:t>Precision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25.45%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4.01%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26.95%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40.38%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6874015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</a:rPr>
                        <a:t>Recall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28.57%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15.00%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29.29%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37.14%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71982259"/>
                  </a:ext>
                </a:extLst>
              </a:tr>
              <a:tr h="376937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</a:rPr>
                        <a:t>Specificity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91.97%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90.31%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92.03%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92.95%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949848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>
                          <a:effectLst/>
                        </a:rPr>
                        <a:t>F1-Score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25.36%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6.29%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26.26%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36.62%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6451787"/>
                  </a:ext>
                </a:extLst>
              </a:tr>
              <a:tr h="286703">
                <a:tc>
                  <a:txBody>
                    <a:bodyPr/>
                    <a:lstStyle/>
                    <a:p>
                      <a:pPr rtl="0" fontAlgn="b"/>
                      <a:r>
                        <a:rPr lang="en-US" sz="1800" dirty="0">
                          <a:effectLst/>
                        </a:rPr>
                        <a:t>AUC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70.18%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58.20%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>
                          <a:effectLst/>
                        </a:rPr>
                        <a:t>69.30%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US" altLang="zh-TW" sz="1800" dirty="0">
                          <a:effectLst/>
                        </a:rPr>
                        <a:t>72.98%</a:t>
                      </a:r>
                    </a:p>
                  </a:txBody>
                  <a:tcPr marL="19875" marR="19875" marT="13250" marB="1325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1053197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DFEA8C-56E1-4552-8E6D-8CBBC814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8DA1D7-BDA8-4B85-8A2C-6527C122F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Thank You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CD39709-AEEF-4334-B438-B782808E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F352-69AB-41EA-ACFB-7D18FFDBCB5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6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3631</TotalTime>
  <Words>659</Words>
  <Application>Microsoft Office PowerPoint</Application>
  <PresentationFormat>寬螢幕</PresentationFormat>
  <Paragraphs>238</Paragraphs>
  <Slides>14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佈景主題</vt:lpstr>
      <vt:lpstr>Homework1 Presentation</vt:lpstr>
      <vt:lpstr>PowerPoint 簡報</vt:lpstr>
      <vt:lpstr>1. Integrating KAN (Kolmogorov-Arnold Network)</vt:lpstr>
      <vt:lpstr>2. DiNA (Dilated Neighborhood Attention)</vt:lpstr>
      <vt:lpstr>3. Hierarchical Hybrid Strategy</vt:lpstr>
      <vt:lpstr>Dataset</vt:lpstr>
      <vt:lpstr>Dataset</vt:lpstr>
      <vt:lpstr>Results (hyperparameters)</vt:lpstr>
      <vt:lpstr>Results (hyperparameters)</vt:lpstr>
      <vt:lpstr>Dataset</vt:lpstr>
      <vt:lpstr>Results (hyperparameters)</vt:lpstr>
      <vt:lpstr>PowerPoint 簡報</vt:lpstr>
      <vt:lpstr>Results (hyperparameters)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of The Presentation</dc:title>
  <dc:creator>洪哲倫</dc:creator>
  <cp:lastModifiedBy>宥霖 林</cp:lastModifiedBy>
  <cp:revision>48</cp:revision>
  <dcterms:created xsi:type="dcterms:W3CDTF">2025-08-29T15:22:57Z</dcterms:created>
  <dcterms:modified xsi:type="dcterms:W3CDTF">2025-09-06T15:56:18Z</dcterms:modified>
</cp:coreProperties>
</file>