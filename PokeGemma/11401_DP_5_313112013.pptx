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Poppins" pitchFamily="2" charset="0"/>
      <p:regular r:id="rId36"/>
      <p:bold r:id="rId37"/>
      <p:italic r:id="rId38"/>
      <p:boldItalic r:id="rId39"/>
    </p:embeddedFont>
    <p:embeddedFont>
      <p:font typeface="Roboto Mono" pitchFamily="49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168DB0-652E-4FAC-BB68-DAAAB78AF17E}">
  <a:tblStyle styleId="{71168DB0-652E-4FAC-BB68-DAAAB78AF1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D66796-F609-42DD-9F2B-5C1324AA9B3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64"/>
  </p:normalViewPr>
  <p:slideViewPr>
    <p:cSldViewPr snapToGrid="0">
      <p:cViewPr varScale="1">
        <p:scale>
          <a:sx n="112" d="100"/>
          <a:sy n="112" d="100"/>
        </p:scale>
        <p:origin x="68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b6cdc2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b6cdc2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8ff8f07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8ff8f07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rgbClr val="1B1C1D"/>
                </a:solidFill>
              </a:rPr>
              <a:t>1. GQA (Grouped Query Attention) 注意力</a:t>
            </a:r>
            <a:endParaRPr sz="1300" b="1">
              <a:solidFill>
                <a:srgbClr val="1B1C1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C1D"/>
              </a:buClr>
              <a:buSzPts val="1100"/>
              <a:buChar char="●"/>
            </a:pPr>
            <a:r>
              <a:rPr lang="en-US">
                <a:solidFill>
                  <a:srgbClr val="1B1C1D"/>
                </a:solidFill>
              </a:rPr>
              <a:t>核心定義：</a:t>
            </a:r>
            <a:br>
              <a:rPr lang="en-US">
                <a:solidFill>
                  <a:srgbClr val="1B1C1D"/>
                </a:solidFill>
              </a:rPr>
            </a:br>
            <a:r>
              <a:rPr lang="en-US">
                <a:solidFill>
                  <a:srgbClr val="1B1C1D"/>
                </a:solidFill>
              </a:rPr>
              <a:t>GQA (分組查詢注意力) 是一種優化過的注意力機制。它的目的是在大幅降低記憶體（VRAM）使用和計算需求的同時，盡可能保持標準「多頭注意力 (MHA)」的效能。</a:t>
            </a:r>
            <a:endParaRPr>
              <a:solidFill>
                <a:srgbClr val="1B1C1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●"/>
            </a:pPr>
            <a:r>
              <a:rPr lang="en-US" b="1">
                <a:solidFill>
                  <a:srgbClr val="1B1C1D"/>
                </a:solidFill>
              </a:rPr>
              <a:t>簡單比喻：</a:t>
            </a:r>
            <a:r>
              <a:rPr lang="en-US">
                <a:solidFill>
                  <a:srgbClr val="1B1C1D"/>
                </a:solidFill>
              </a:rPr>
              <a:t> 想像一個大型記者會。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標準 MHA (多頭注意力)：</a:t>
            </a:r>
            <a:r>
              <a:rPr lang="en-US">
                <a:solidFill>
                  <a:srgbClr val="1B1C1D"/>
                </a:solidFill>
              </a:rPr>
              <a:t> 現場有 32 位記者（Query / 查詢）。</a:t>
            </a:r>
            <a:r>
              <a:rPr lang="en-US" b="1">
                <a:solidFill>
                  <a:srgbClr val="1B1C1D"/>
                </a:solidFill>
              </a:rPr>
              <a:t>每一位</a:t>
            </a:r>
            <a:r>
              <a:rPr lang="en-US">
                <a:solidFill>
                  <a:srgbClr val="1B1C1D"/>
                </a:solidFill>
              </a:rPr>
              <a:t>記者都配有</a:t>
            </a:r>
            <a:r>
              <a:rPr lang="en-US" b="1">
                <a:solidFill>
                  <a:srgbClr val="1B1C1D"/>
                </a:solidFill>
              </a:rPr>
              <a:t>自己專屬</a:t>
            </a:r>
            <a:r>
              <a:rPr lang="en-US">
                <a:solidFill>
                  <a:srgbClr val="1B1C1D"/>
                </a:solidFill>
              </a:rPr>
              <a:t>的攝影師 (Key / 鍵) 和麥克風 (Value / 值)。這非常徹底，但成本極高 (32 組人馬)。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GQA (分組查詢注意力)：</a:t>
            </a:r>
            <a:r>
              <a:rPr lang="en-US">
                <a:solidFill>
                  <a:srgbClr val="1B1C1D"/>
                </a:solidFill>
              </a:rPr>
              <a:t> 現場有 32 位記者，但他們被分成 4 個小組。</a:t>
            </a:r>
            <a:r>
              <a:rPr lang="en-US" b="1">
                <a:solidFill>
                  <a:srgbClr val="1B1C1D"/>
                </a:solidFill>
              </a:rPr>
              <a:t>每組 8 位記者</a:t>
            </a:r>
            <a:r>
              <a:rPr lang="en-US">
                <a:solidFill>
                  <a:srgbClr val="1B1C1D"/>
                </a:solidFill>
              </a:rPr>
              <a:t>（Query）</a:t>
            </a:r>
            <a:r>
              <a:rPr lang="en-US" b="1">
                <a:solidFill>
                  <a:srgbClr val="1B1C1D"/>
                </a:solidFill>
              </a:rPr>
              <a:t>共享</a:t>
            </a:r>
            <a:r>
              <a:rPr lang="en-US">
                <a:solidFill>
                  <a:srgbClr val="1B1C1D"/>
                </a:solidFill>
              </a:rPr>
              <a:t> 1 組攝影師和麥克風 (Key/Value)。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結果：</a:t>
            </a:r>
            <a:r>
              <a:rPr lang="en-US">
                <a:solidFill>
                  <a:srgbClr val="1B1C1D"/>
                </a:solidFill>
              </a:rPr>
              <a:t> 成本（VRAM 佔用）大幅降低，但因為記者還是分組的，所以採訪品質（模型效能）遠高於 32 位記者共用 1 組設備 (MQA)。</a:t>
            </a:r>
            <a:endParaRPr>
              <a:solidFill>
                <a:srgbClr val="1B1C1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rgbClr val="1B1C1D"/>
                </a:solidFill>
              </a:rPr>
              <a:t>2. RMSNorm (正規化層)</a:t>
            </a:r>
            <a:endParaRPr sz="1300" b="1">
              <a:solidFill>
                <a:srgbClr val="1B1C1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C1D"/>
              </a:buClr>
              <a:buSzPts val="1100"/>
              <a:buChar char="●"/>
            </a:pPr>
            <a:r>
              <a:rPr lang="en-US">
                <a:solidFill>
                  <a:srgbClr val="1B1C1D"/>
                </a:solidFill>
              </a:rPr>
              <a:t>核心定義：</a:t>
            </a:r>
            <a:br>
              <a:rPr lang="en-US">
                <a:solidFill>
                  <a:srgbClr val="1B1C1D"/>
                </a:solidFill>
              </a:rPr>
            </a:br>
            <a:r>
              <a:rPr lang="en-US">
                <a:solidFill>
                  <a:srgbClr val="1B1C1D"/>
                </a:solidFill>
              </a:rPr>
              <a:t>RMSNorm (均方根正規化) 是一種更快、更精簡的正規化 (Normalization) 方法，用來取代 Transformer 中標準的 LayerNorm。</a:t>
            </a:r>
            <a:endParaRPr>
              <a:solidFill>
                <a:srgbClr val="1B1C1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●"/>
            </a:pPr>
            <a:r>
              <a:rPr lang="en-US" b="1">
                <a:solidFill>
                  <a:srgbClr val="1B1C1D"/>
                </a:solidFill>
              </a:rPr>
              <a:t>簡單比喻：</a:t>
            </a:r>
            <a:r>
              <a:rPr lang="en-US">
                <a:solidFill>
                  <a:srgbClr val="1B1C1D"/>
                </a:solidFill>
              </a:rPr>
              <a:t> 想像您在調整一組音軌的音量。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LayerNorm (標準)：</a:t>
            </a:r>
            <a:r>
              <a:rPr lang="en-US">
                <a:solidFill>
                  <a:srgbClr val="1B1C1D"/>
                </a:solidFill>
              </a:rPr>
              <a:t> 比較複雜。它會先算出所有音軌的「平均音量」，然後把所有音軌都拉到這個平均值，最後再一起放大或縮小。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RMSNorm：</a:t>
            </a:r>
            <a:r>
              <a:rPr lang="en-US">
                <a:solidFill>
                  <a:srgbClr val="1B1C1D"/>
                </a:solidFill>
              </a:rPr>
              <a:t> 非常直接。它</a:t>
            </a:r>
            <a:r>
              <a:rPr lang="en-US" b="1">
                <a:solidFill>
                  <a:srgbClr val="1B1C1D"/>
                </a:solidFill>
              </a:rPr>
              <a:t>省略了計算平均值</a:t>
            </a:r>
            <a:r>
              <a:rPr lang="en-US">
                <a:solidFill>
                  <a:srgbClr val="1B1C1D"/>
                </a:solidFill>
              </a:rPr>
              <a:t>的步驟。它只看整體音量的「總能量」(RMS)，然後直接放大或縮小。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結果：</a:t>
            </a:r>
            <a:r>
              <a:rPr lang="en-US">
                <a:solidFill>
                  <a:srgbClr val="1B1C1D"/>
                </a:solidFill>
              </a:rPr>
              <a:t> 計算步驟更少，速度更快，但在 LLM 上的效果幾乎一樣好，因此 Llama 和 Gemma 都採用了它。</a:t>
            </a:r>
            <a:endParaRPr>
              <a:solidFill>
                <a:srgbClr val="1B1C1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rgbClr val="1B1C1D"/>
                </a:solidFill>
              </a:rPr>
              <a:t>3. SwiGLU (激活函數)</a:t>
            </a:r>
            <a:endParaRPr sz="1300" b="1">
              <a:solidFill>
                <a:srgbClr val="1B1C1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C1D"/>
              </a:buClr>
              <a:buSzPts val="1100"/>
              <a:buChar char="●"/>
            </a:pPr>
            <a:r>
              <a:rPr lang="en-US">
                <a:solidFill>
                  <a:srgbClr val="1B1C1D"/>
                </a:solidFill>
              </a:rPr>
              <a:t>核心定義：</a:t>
            </a:r>
            <a:br>
              <a:rPr lang="en-US">
                <a:solidFill>
                  <a:srgbClr val="1B1C1D"/>
                </a:solidFill>
              </a:rPr>
            </a:br>
            <a:r>
              <a:rPr lang="en-US">
                <a:solidFill>
                  <a:srgbClr val="1B1C1D"/>
                </a:solidFill>
              </a:rPr>
              <a:t>SwiGLU 是一種激活函數，取代了舊的 ReLU。它透過一個「閘門 (Gating)」機制，讓神經網路能更細緻地控制資訊的流動，從而顯著提升模型性能。</a:t>
            </a:r>
            <a:endParaRPr>
              <a:solidFill>
                <a:srgbClr val="1B1C1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●"/>
            </a:pPr>
            <a:r>
              <a:rPr lang="en-US" b="1">
                <a:solidFill>
                  <a:srgbClr val="1B1C1D"/>
                </a:solidFill>
              </a:rPr>
              <a:t>簡單比喻：</a:t>
            </a:r>
            <a:endParaRPr b="1"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ReLU (舊)：</a:t>
            </a:r>
            <a:r>
              <a:rPr lang="en-US">
                <a:solidFill>
                  <a:srgbClr val="1B1C1D"/>
                </a:solidFill>
              </a:rPr>
              <a:t> 像一個「</a:t>
            </a:r>
            <a:r>
              <a:rPr lang="en-US" b="1">
                <a:solidFill>
                  <a:srgbClr val="1B1C1D"/>
                </a:solidFill>
              </a:rPr>
              <a:t>電燈開關</a:t>
            </a:r>
            <a:r>
              <a:rPr lang="en-US">
                <a:solidFill>
                  <a:srgbClr val="1B1C1D"/>
                </a:solidFill>
              </a:rPr>
              <a:t>」。它要嘛是全關 (0%)，要嘛是全開 (100%)。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SwiGLU：</a:t>
            </a:r>
            <a:r>
              <a:rPr lang="en-US">
                <a:solidFill>
                  <a:srgbClr val="1B1C1D"/>
                </a:solidFill>
              </a:rPr>
              <a:t> 像一個「</a:t>
            </a:r>
            <a:r>
              <a:rPr lang="en-US" b="1">
                <a:solidFill>
                  <a:srgbClr val="1B1C1D"/>
                </a:solidFill>
              </a:rPr>
              <a:t>調光器 (Dimmer)</a:t>
            </a:r>
            <a:r>
              <a:rPr lang="en-US">
                <a:solidFill>
                  <a:srgbClr val="1B1C1D"/>
                </a:solidFill>
              </a:rPr>
              <a:t>」。它有兩路訊號：一路是「主要內容」，另一路是「閘門 (Gate)」。它讓模型自己學習這個「閘門」應該開 30%、70% 還是 100%，允許更複雜、更平滑的訊號通過。</a:t>
            </a:r>
            <a:endParaRPr>
              <a:solidFill>
                <a:srgbClr val="1B1C1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rgbClr val="1B1C1D"/>
                </a:solidFill>
              </a:rPr>
              <a:t>4. RoPE (位置編碼)</a:t>
            </a:r>
            <a:endParaRPr sz="1300" b="1">
              <a:solidFill>
                <a:srgbClr val="1B1C1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C1D"/>
              </a:buClr>
              <a:buSzPts val="1100"/>
              <a:buChar char="●"/>
            </a:pPr>
            <a:r>
              <a:rPr lang="en-US">
                <a:solidFill>
                  <a:srgbClr val="1B1C1D"/>
                </a:solidFill>
              </a:rPr>
              <a:t>核心定義：</a:t>
            </a:r>
            <a:br>
              <a:rPr lang="en-US">
                <a:solidFill>
                  <a:srgbClr val="1B1C1D"/>
                </a:solidFill>
              </a:rPr>
            </a:br>
            <a:r>
              <a:rPr lang="en-US">
                <a:solidFill>
                  <a:srgbClr val="1B1C1D"/>
                </a:solidFill>
              </a:rPr>
              <a:t>RoPE (旋轉位置編碼) 是一種用來告訴模型「單字順序」的技術。它最大的特點是相對位置編碼，這讓它在處理長文本時表現得比「絕對位置編碼」更好。</a:t>
            </a:r>
            <a:endParaRPr>
              <a:solidFill>
                <a:srgbClr val="1B1C1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●"/>
            </a:pPr>
            <a:r>
              <a:rPr lang="en-US" b="1">
                <a:solidFill>
                  <a:srgbClr val="1B1C1D"/>
                </a:solidFill>
              </a:rPr>
              <a:t>簡單比喻：</a:t>
            </a:r>
            <a:endParaRPr b="1"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傳統編碼 (絕對位置)：</a:t>
            </a:r>
            <a:r>
              <a:rPr lang="en-US">
                <a:solidFill>
                  <a:srgbClr val="1B1C1D"/>
                </a:solidFill>
              </a:rPr>
              <a:t> 像 GPS 座標。它告訴模型：「'cat' 在 (緯度 1, 經度 1)，'sat' 在 (緯度 1, 經度 2)」。模型很難從這裡直接學到「'sat' 就在 'cat' 旁邊」。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RoPE (相對位置)：</a:t>
            </a:r>
            <a:r>
              <a:rPr lang="en-US">
                <a:solidFill>
                  <a:srgbClr val="1B1C1D"/>
                </a:solidFill>
              </a:rPr>
              <a:t> 像一個「指南針和計步器」。它不給絕對座標，而是告訴模型：「'sat' 在 'cat' </a:t>
            </a:r>
            <a:r>
              <a:rPr lang="en-US" b="1">
                <a:solidFill>
                  <a:srgbClr val="1B1C1D"/>
                </a:solidFill>
              </a:rPr>
              <a:t>右邊 1 步</a:t>
            </a:r>
            <a:r>
              <a:rPr lang="en-US">
                <a:solidFill>
                  <a:srgbClr val="1B1C1D"/>
                </a:solidFill>
              </a:rPr>
              <a:t>的位置」。它透過一種巧妙的數學「旋轉」來實現，距離越遠的詞，它們的向量就被「旋轉」得越開。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結果：</a:t>
            </a:r>
            <a:r>
              <a:rPr lang="en-US">
                <a:solidFill>
                  <a:srgbClr val="1B1C1D"/>
                </a:solidFill>
              </a:rPr>
              <a:t> 這讓模型能更好地理解「詞與詞之間的相對距離」，因此更容易擴展到更長的文本。</a:t>
            </a:r>
            <a:endParaRPr>
              <a:solidFill>
                <a:srgbClr val="1B1C1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1B1C1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rgbClr val="1B1C1D"/>
                </a:solidFill>
              </a:rPr>
              <a:t>5. 狀態空間模型 (SSM / Mamba)</a:t>
            </a:r>
            <a:endParaRPr sz="1300" b="1">
              <a:solidFill>
                <a:srgbClr val="1B1C1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C1D"/>
              </a:buClr>
              <a:buSzPts val="1100"/>
              <a:buChar char="●"/>
            </a:pPr>
            <a:r>
              <a:rPr lang="en-US">
                <a:solidFill>
                  <a:srgbClr val="1B1C1D"/>
                </a:solidFill>
              </a:rPr>
              <a:t>核心定義：</a:t>
            </a:r>
            <a:br>
              <a:rPr lang="en-US">
                <a:solidFill>
                  <a:srgbClr val="1B1C1D"/>
                </a:solidFill>
              </a:rPr>
            </a:br>
            <a:r>
              <a:rPr lang="en-US">
                <a:solidFill>
                  <a:srgbClr val="1B1C1D"/>
                </a:solidFill>
              </a:rPr>
              <a:t>SSM (State Space Model) / Mamba 是一種完全不同於 Transformer 的序列模型架構。它的設計初衷是為了解決 Transformer 注意力機制在處理超長文本時，計算量會平方級增長 ($O(n^2)$) 的問題。</a:t>
            </a:r>
            <a:endParaRPr>
              <a:solidFill>
                <a:srgbClr val="1B1C1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●"/>
            </a:pPr>
            <a:r>
              <a:rPr lang="en-US" b="1">
                <a:solidFill>
                  <a:srgbClr val="1B1C1D"/>
                </a:solidFill>
              </a:rPr>
              <a:t>簡單比喻：</a:t>
            </a:r>
            <a:r>
              <a:rPr lang="en-US">
                <a:solidFill>
                  <a:srgbClr val="1B1C1D"/>
                </a:solidFill>
              </a:rPr>
              <a:t> 想像您在寫一篇非常長的論文。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Transformer (Attention)：</a:t>
            </a:r>
            <a:r>
              <a:rPr lang="en-US">
                <a:solidFill>
                  <a:srgbClr val="1B1C1D"/>
                </a:solidFill>
              </a:rPr>
              <a:t> 像一個「圓桌會議」。當您要寫第 1000 個字時，您必須</a:t>
            </a:r>
            <a:r>
              <a:rPr lang="en-US" b="1">
                <a:solidFill>
                  <a:srgbClr val="1B1C1D"/>
                </a:solidFill>
              </a:rPr>
              <a:t>回頭</a:t>
            </a:r>
            <a:r>
              <a:rPr lang="en-US">
                <a:solidFill>
                  <a:srgbClr val="1B1C1D"/>
                </a:solidFill>
              </a:rPr>
              <a:t>看前面所有的 999 個字，並計算新字與前面每一個字的關聯性。當文本變長，這個「回頭看」的動作會變得極度耗時。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SSM / Mamba：</a:t>
            </a:r>
            <a:r>
              <a:rPr lang="en-US">
                <a:solidFill>
                  <a:srgbClr val="1B1C1D"/>
                </a:solidFill>
              </a:rPr>
              <a:t> 像一個「</a:t>
            </a:r>
            <a:r>
              <a:rPr lang="en-US" b="1">
                <a:solidFill>
                  <a:srgbClr val="1B1C1D"/>
                </a:solidFill>
              </a:rPr>
              <a:t>生產線</a:t>
            </a:r>
            <a:r>
              <a:rPr lang="en-US">
                <a:solidFill>
                  <a:srgbClr val="1B1C1D"/>
                </a:solidFill>
              </a:rPr>
              <a:t>」。它在處理文本時是</a:t>
            </a:r>
            <a:r>
              <a:rPr lang="en-US" b="1">
                <a:solidFill>
                  <a:srgbClr val="1B1C1D"/>
                </a:solidFill>
              </a:rPr>
              <a:t>依序</a:t>
            </a:r>
            <a:r>
              <a:rPr lang="en-US">
                <a:solidFill>
                  <a:srgbClr val="1B1C1D"/>
                </a:solidFill>
              </a:rPr>
              <a:t>的。它只維護一個「</a:t>
            </a:r>
            <a:r>
              <a:rPr lang="en-US" b="1">
                <a:solidFill>
                  <a:srgbClr val="1B1C1D"/>
                </a:solidFill>
              </a:rPr>
              <a:t>狀態 (State)</a:t>
            </a:r>
            <a:r>
              <a:rPr lang="en-US">
                <a:solidFill>
                  <a:srgbClr val="1B1C1D"/>
                </a:solidFill>
              </a:rPr>
              <a:t>」（可以想成是一個高度壓縮的「摘要」）。當它讀到第 1000 個字時，它只看</a:t>
            </a:r>
            <a:r>
              <a:rPr lang="en-US" b="1">
                <a:solidFill>
                  <a:srgbClr val="1B1C1D"/>
                </a:solidFill>
              </a:rPr>
              <a:t>第 999 個字傳來的「摘要」</a:t>
            </a:r>
            <a:r>
              <a:rPr lang="en-US">
                <a:solidFill>
                  <a:srgbClr val="1B1C1D"/>
                </a:solidFill>
              </a:rPr>
              <a:t>，然後更新這個摘要，再傳給第 1001 個字。</a:t>
            </a:r>
            <a:endParaRPr>
              <a:solidFill>
                <a:srgbClr val="1B1C1D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○"/>
            </a:pPr>
            <a:r>
              <a:rPr lang="en-US" b="1">
                <a:solidFill>
                  <a:srgbClr val="1B1C1D"/>
                </a:solidFill>
              </a:rPr>
              <a:t>結果：</a:t>
            </a:r>
            <a:r>
              <a:rPr lang="en-US">
                <a:solidFill>
                  <a:srgbClr val="1B1C1D"/>
                </a:solidFill>
              </a:rPr>
              <a:t> Mamba 的計算成本幾乎是</a:t>
            </a:r>
            <a:r>
              <a:rPr lang="en-US" b="1">
                <a:solidFill>
                  <a:srgbClr val="1B1C1D"/>
                </a:solidFill>
              </a:rPr>
              <a:t>線性</a:t>
            </a:r>
            <a:r>
              <a:rPr lang="en-US">
                <a:solidFill>
                  <a:srgbClr val="1B1C1D"/>
                </a:solidFill>
              </a:rPr>
              <a:t>的 ($O(n)$)。這使它在處理百萬級長度的文本時，速度遠遠快於 Transformer。這也是 </a:t>
            </a:r>
            <a:r>
              <a:rPr lang="en-US" b="1">
                <a:solidFill>
                  <a:srgbClr val="1B1C1D"/>
                </a:solidFill>
              </a:rPr>
              <a:t>Gemma-2 9B/27B</a:t>
            </a:r>
            <a:r>
              <a:rPr lang="en-US">
                <a:solidFill>
                  <a:srgbClr val="1B1C1D"/>
                </a:solidFill>
              </a:rPr>
              <a:t> 採用混合架構的原因。</a:t>
            </a:r>
            <a:endParaRPr>
              <a:solidFill>
                <a:srgbClr val="1B1C1D"/>
              </a:solidFill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8ff8f07c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8ff8f07c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</a:rPr>
              <a:t>Mistral AI是一家成立於2023年4月的法國科技公司，開發使用大型語言模型技術的生成式人工智慧。</a:t>
            </a:r>
            <a:endParaRPr sz="10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1. MMLU (5-shot)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核心定義：</a:t>
            </a:r>
            <a:r>
              <a:rPr lang="en-US">
                <a:solidFill>
                  <a:schemeClr val="dk1"/>
                </a:solidFill>
              </a:rPr>
              <a:t> MMLU (Massive Multitask Language Understanding) 是一個「大規模多任務語言理解」指標。它的主要目的是評估一個模型</a:t>
            </a:r>
            <a:r>
              <a:rPr lang="en-US" b="1">
                <a:solidFill>
                  <a:schemeClr val="dk1"/>
                </a:solidFill>
              </a:rPr>
              <a:t>知識的廣度</a:t>
            </a:r>
            <a:r>
              <a:rPr lang="en-US">
                <a:solidFill>
                  <a:schemeClr val="dk1"/>
                </a:solidFill>
              </a:rPr>
              <a:t>和</a:t>
            </a:r>
            <a:r>
              <a:rPr lang="en-US" b="1">
                <a:solidFill>
                  <a:schemeClr val="dk1"/>
                </a:solidFill>
              </a:rPr>
              <a:t>解決問題的深度</a:t>
            </a:r>
            <a:r>
              <a:rPr lang="en-US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詳細說明：</a:t>
            </a:r>
            <a:endParaRPr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內容：</a:t>
            </a:r>
            <a:r>
              <a:rPr lang="en-US">
                <a:solidFill>
                  <a:schemeClr val="dk1"/>
                </a:solidFill>
              </a:rPr>
              <a:t> 這是一個龐大的「選擇題」數據集，涵蓋了 57 個不同的學科，包括基礎的（如數學、物理）和專業的（如法律、會計、醫學），難度橫跨高中到大學專業水準。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(5-shot) 的意思：</a:t>
            </a:r>
            <a:r>
              <a:rPr lang="en-US">
                <a:solidFill>
                  <a:schemeClr val="dk1"/>
                </a:solidFill>
              </a:rPr>
              <a:t> 這是指「少樣本 (Few-shot)」評測。在要求模型回答某一學科的正式考題之前，會先給它看 5 個該學科的「(問題, 正確答案)」範例。這能讓模型先「理解題型」，模擬人類學習後再作答的情境。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2. HumanEval (0-shot)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核心定義：</a:t>
            </a:r>
            <a:r>
              <a:rPr lang="en-US">
                <a:solidFill>
                  <a:schemeClr val="dk1"/>
                </a:solidFill>
              </a:rPr>
              <a:t> HumanEval 是一個專門評估 LLM </a:t>
            </a:r>
            <a:r>
              <a:rPr lang="en-US" b="1">
                <a:solidFill>
                  <a:schemeClr val="dk1"/>
                </a:solidFill>
              </a:rPr>
              <a:t>程式碼生成能力</a:t>
            </a:r>
            <a:r>
              <a:rPr lang="en-US">
                <a:solidFill>
                  <a:schemeClr val="dk1"/>
                </a:solidFill>
              </a:rPr>
              <a:t>的標準指標，特別是 Python 語言。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詳細說明：</a:t>
            </a:r>
            <a:endParaRPr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內容：</a:t>
            </a:r>
            <a:r>
              <a:rPr lang="en-US">
                <a:solidFill>
                  <a:schemeClr val="dk1"/>
                </a:solidFill>
              </a:rPr>
              <a:t> 它由 164 個手寫的程式設計問題組成。每個問題都以 Python 函數的「文檔字串 (docstring)」形式給出（即描述函數的功能、輸入和輸出），模型必須生成完整的、語法正確且邏輯正確的 Python 函數來解決問題。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比喻：</a:t>
            </a:r>
            <a:r>
              <a:rPr lang="en-US">
                <a:solidFill>
                  <a:schemeClr val="dk1"/>
                </a:solidFill>
              </a:rPr>
              <a:t> HumanEval 就像是 LLM 的「</a:t>
            </a:r>
            <a:r>
              <a:rPr lang="en-US" b="1">
                <a:solidFill>
                  <a:schemeClr val="dk1"/>
                </a:solidFill>
              </a:rPr>
              <a:t>現場程式設計面試 (Live Coding Interview)</a:t>
            </a:r>
            <a:r>
              <a:rPr lang="en-US">
                <a:solidFill>
                  <a:schemeClr val="dk1"/>
                </a:solidFill>
              </a:rPr>
              <a:t>」。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(0-shot) 的意思：</a:t>
            </a:r>
            <a:r>
              <a:rPr lang="en-US">
                <a:solidFill>
                  <a:schemeClr val="dk1"/>
                </a:solidFill>
              </a:rPr>
              <a:t> 這是指「零樣本 (Zero-shot)」評測。模型在沒有看過任何範例的情況下，必須直接讀懂題目要求並寫出程式碼。評分方式是看模型生成的程式碼是否能通過一系列隱藏的「單元測試 (Unit Tests)」。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3. GSM-8K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核心定義：</a:t>
            </a:r>
            <a:r>
              <a:rPr lang="en-US">
                <a:solidFill>
                  <a:schemeClr val="dk1"/>
                </a:solidFill>
              </a:rPr>
              <a:t> GSM-8K (Grade School Math 8K) 是一個評估 LLM 執行</a:t>
            </a:r>
            <a:r>
              <a:rPr lang="en-US" b="1">
                <a:solidFill>
                  <a:schemeClr val="dk1"/>
                </a:solidFill>
              </a:rPr>
              <a:t>多步驟算術推理 (multi-step arithmetic reasoning)</a:t>
            </a:r>
            <a:r>
              <a:rPr lang="en-US">
                <a:solidFill>
                  <a:schemeClr val="dk1"/>
                </a:solidFill>
              </a:rPr>
              <a:t> 能力的數據集。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詳細說明：</a:t>
            </a:r>
            <a:endParaRPr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內容：</a:t>
            </a:r>
            <a:r>
              <a:rPr lang="en-US">
                <a:solidFill>
                  <a:schemeClr val="dk1"/>
                </a:solidFill>
              </a:rPr>
              <a:t> 它包含了約 8,000 道高品質的「小學數學應用題」。這些題目需要模型閱讀文字故事，將其分解為 2 到 8 個步驟的邏輯和算術運算才能得到最終答案。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比喻：</a:t>
            </a:r>
            <a:r>
              <a:rPr lang="en-US">
                <a:solidFill>
                  <a:schemeClr val="dk1"/>
                </a:solidFill>
              </a:rPr>
              <a:t> 這就是「</a:t>
            </a:r>
            <a:r>
              <a:rPr lang="en-US" b="1">
                <a:solidFill>
                  <a:schemeClr val="dk1"/>
                </a:solidFill>
              </a:rPr>
              <a:t>小學數學應用題</a:t>
            </a:r>
            <a:r>
              <a:rPr lang="en-US">
                <a:solidFill>
                  <a:schemeClr val="dk1"/>
                </a:solidFill>
              </a:rPr>
              <a:t>」測驗。例如：「一個農夫有 10 顆蘋果，他給了 3 顆給朋友，又買了 5 顆，他現在有幾顆？」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目的：</a:t>
            </a:r>
            <a:r>
              <a:rPr lang="en-US">
                <a:solidFill>
                  <a:schemeClr val="dk1"/>
                </a:solidFill>
              </a:rPr>
              <a:t> 它測試的不是高等數學，而是模型是否具備基本的「邏輯推理鏈 (Chain-of-Thought)」 能力——即能否正確理解「給了」就是減法，「買了」就是加法，並正確執行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10 - 3 + 5 = 12</a:t>
            </a:r>
            <a:r>
              <a:rPr lang="en-US">
                <a:solidFill>
                  <a:schemeClr val="dk1"/>
                </a:solidFill>
              </a:rPr>
              <a:t> 這一系列推理。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4. MATH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核心定義：</a:t>
            </a:r>
            <a:r>
              <a:rPr lang="en-US">
                <a:solidFill>
                  <a:schemeClr val="dk1"/>
                </a:solidFill>
              </a:rPr>
              <a:t> MATH 是一個評估 LLM </a:t>
            </a:r>
            <a:r>
              <a:rPr lang="en-US" b="1">
                <a:solidFill>
                  <a:schemeClr val="dk1"/>
                </a:solidFill>
              </a:rPr>
              <a:t>高等數學推理</a:t>
            </a:r>
            <a:r>
              <a:rPr lang="en-US">
                <a:solidFill>
                  <a:schemeClr val="dk1"/>
                </a:solidFill>
              </a:rPr>
              <a:t>和</a:t>
            </a:r>
            <a:r>
              <a:rPr lang="en-US" b="1">
                <a:solidFill>
                  <a:schemeClr val="dk1"/>
                </a:solidFill>
              </a:rPr>
              <a:t>競賽級解題能力</a:t>
            </a:r>
            <a:r>
              <a:rPr lang="en-US">
                <a:solidFill>
                  <a:schemeClr val="dk1"/>
                </a:solidFill>
              </a:rPr>
              <a:t>的數據集。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詳細說明：</a:t>
            </a:r>
            <a:endParaRPr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內容：</a:t>
            </a:r>
            <a:r>
              <a:rPr lang="en-US">
                <a:solidFill>
                  <a:schemeClr val="dk1"/>
                </a:solidFill>
              </a:rPr>
              <a:t> 它包含了 12,500 個來自美國高中數學競賽（如 AMC 10/12）的問題。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比喻：</a:t>
            </a:r>
            <a:r>
              <a:rPr lang="en-US">
                <a:solidFill>
                  <a:schemeClr val="dk1"/>
                </a:solidFill>
              </a:rPr>
              <a:t> 如果說 GSM-8K 是「小學數學」，那麼 MATH 就是「</a:t>
            </a:r>
            <a:r>
              <a:rPr lang="en-US" b="1">
                <a:solidFill>
                  <a:schemeClr val="dk1"/>
                </a:solidFill>
              </a:rPr>
              <a:t>高中奧林匹亞數學競賽</a:t>
            </a:r>
            <a:r>
              <a:rPr lang="en-US">
                <a:solidFill>
                  <a:schemeClr val="dk1"/>
                </a:solidFill>
              </a:rPr>
              <a:t>」。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b="1">
                <a:solidFill>
                  <a:schemeClr val="dk1"/>
                </a:solidFill>
              </a:rPr>
              <a:t>目的：</a:t>
            </a:r>
            <a:r>
              <a:rPr lang="en-US">
                <a:solidFill>
                  <a:schemeClr val="dk1"/>
                </a:solidFill>
              </a:rPr>
              <a:t> 這些題目非常難，需要模型具備代數 (Algebra)、幾何 (Geometry)、數論 (Number Theory)、機率與組合 (Counting &amp; Probability) 等領域的深入知識，以及非常複雜的抽象和符號推理能力。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1b6cdc26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1b6cdc26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SFT (Supervised Fine-Tuning)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給它一個</a:t>
            </a:r>
            <a:r>
              <a:rPr lang="en-US" b="1">
                <a:solidFill>
                  <a:schemeClr val="dk1"/>
                </a:solidFill>
              </a:rPr>
              <a:t>新的</a:t>
            </a:r>
            <a:r>
              <a:rPr lang="en-US">
                <a:solidFill>
                  <a:schemeClr val="dk1"/>
                </a:solidFill>
              </a:rPr>
              <a:t>、</a:t>
            </a:r>
            <a:r>
              <a:rPr lang="en-US" b="1">
                <a:solidFill>
                  <a:schemeClr val="dk1"/>
                </a:solidFill>
              </a:rPr>
              <a:t>從未見過</a:t>
            </a:r>
            <a:r>
              <a:rPr lang="en-US">
                <a:solidFill>
                  <a:schemeClr val="dk1"/>
                </a:solidFill>
              </a:rPr>
              <a:t>的情境（例如「小火龍 vs. 妙蛙種子」），它也能「舉一反三」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 params: 2,624,725,248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這是指 Gemma-2 2B 這整個</a:t>
            </a:r>
            <a:r>
              <a:rPr lang="en-US" b="1">
                <a:solidFill>
                  <a:schemeClr val="dk1"/>
                </a:solidFill>
              </a:rPr>
              <a:t>基底模型</a:t>
            </a:r>
            <a:r>
              <a:rPr lang="en-US">
                <a:solidFill>
                  <a:schemeClr val="dk1"/>
                </a:solidFill>
              </a:rPr>
              <a:t>的總參數數量（約 26.2 億）。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trainable params: 10,383,360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這是</a:t>
            </a:r>
            <a:r>
              <a:rPr lang="en-US" b="1">
                <a:solidFill>
                  <a:schemeClr val="dk1"/>
                </a:solidFill>
              </a:rPr>
              <a:t>真正會被訓練</a:t>
            </a:r>
            <a:r>
              <a:rPr lang="en-US">
                <a:solidFill>
                  <a:schemeClr val="dk1"/>
                </a:solidFill>
              </a:rPr>
              <a:t>（即在微調過程中被更新）的參數數量（約 1,038 萬）。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這</a:t>
            </a:r>
            <a:r>
              <a:rPr lang="en-US" b="1">
                <a:solidFill>
                  <a:schemeClr val="dk1"/>
                </a:solidFill>
              </a:rPr>
              <a:t>不是</a:t>
            </a:r>
            <a:r>
              <a:rPr lang="en-US">
                <a:solidFill>
                  <a:schemeClr val="dk1"/>
                </a:solidFill>
              </a:rPr>
              <a:t>基底模型的參數，而是您剛剛注入的</a:t>
            </a:r>
            <a:r>
              <a:rPr lang="en-US" b="1">
                <a:solidFill>
                  <a:schemeClr val="dk1"/>
                </a:solidFill>
              </a:rPr>
              <a:t>所有 LoRA 適配器</a:t>
            </a:r>
            <a:r>
              <a:rPr lang="en-US">
                <a:solidFill>
                  <a:schemeClr val="dk1"/>
                </a:solidFill>
              </a:rPr>
              <a:t>（在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k_proj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q_proj</a:t>
            </a:r>
            <a:r>
              <a:rPr lang="en-US">
                <a:solidFill>
                  <a:schemeClr val="dk1"/>
                </a:solidFill>
              </a:rPr>
              <a:t> 等位置）的參數總和。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trainable%: 0.3956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這是最重要的數字。它告訴您，您</a:t>
            </a:r>
            <a:r>
              <a:rPr lang="en-US" b="1">
                <a:solidFill>
                  <a:schemeClr val="dk1"/>
                </a:solidFill>
              </a:rPr>
              <a:t>僅僅透過訓練 1,038 萬個參數（只佔總模型 0.39%）</a:t>
            </a:r>
            <a:r>
              <a:rPr lang="en-US">
                <a:solidFill>
                  <a:schemeClr val="dk1"/>
                </a:solidFill>
              </a:rPr>
              <a:t>，就能達到微調 26.2 億參數模型的效果。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LoRA (Low-Rank Adaptation)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矩陣 (下方的橘色梯形)：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它會先將輸入 x（維度 d）**「降維」**到一個非常小的維度 r（r 就是 "Rank"，低秩的秩）。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這個 r 非常小（例如 8, 16 或 32），這就是「低秩」(Low-Rank) 名稱的由來。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 矩陣 (上方的橘色梯形)：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它會將 A 矩陣的 r 維度輸出**「升維」**回原始維度 d。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圖中 特別標註 B = 0，這代表 LoRA 在初始化時，會將 B 矩陣設為 0。這確保了在訓練剛開始時，這個外掛路徑的輸出是 0，模型是從原始狀態開始學習的。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它假設在</a:t>
            </a:r>
            <a:r>
              <a:rPr lang="en-US" b="1">
                <a:solidFill>
                  <a:schemeClr val="dk1"/>
                </a:solidFill>
              </a:rPr>
              <a:t>模型權重</a:t>
            </a:r>
            <a:r>
              <a:rPr lang="en-US">
                <a:solidFill>
                  <a:schemeClr val="dk1"/>
                </a:solidFill>
              </a:rPr>
              <a:t>的「變化」中也存在一個「低秩子空間」，這個子空間足以代表</a:t>
            </a:r>
            <a:r>
              <a:rPr lang="en-US" b="1">
                <a:solidFill>
                  <a:schemeClr val="dk1"/>
                </a:solidFill>
              </a:rPr>
              <a:t>新任務</a:t>
            </a:r>
            <a:r>
              <a:rPr lang="en-US">
                <a:solidFill>
                  <a:schemeClr val="dk1"/>
                </a:solidFill>
              </a:rPr>
              <a:t>（例如您的寶可夢 SFT）。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方法：</a:t>
            </a:r>
            <a:r>
              <a:rPr lang="en-US">
                <a:solidFill>
                  <a:schemeClr val="dk1"/>
                </a:solidFill>
              </a:rPr>
              <a:t> 它</a:t>
            </a:r>
            <a:r>
              <a:rPr lang="en-US" b="1">
                <a:solidFill>
                  <a:schemeClr val="dk1"/>
                </a:solidFill>
              </a:rPr>
              <a:t>不去分析</a:t>
            </a:r>
            <a:r>
              <a:rPr lang="en-US">
                <a:solidFill>
                  <a:schemeClr val="dk1"/>
                </a:solidFill>
              </a:rPr>
              <a:t>（像 PCA 那樣），而是透過</a:t>
            </a:r>
            <a:r>
              <a:rPr lang="en-US" b="1">
                <a:solidFill>
                  <a:schemeClr val="dk1"/>
                </a:solidFill>
              </a:rPr>
              <a:t>梯度下降（訓練）來學習</a:t>
            </a:r>
            <a:r>
              <a:rPr lang="en-US">
                <a:solidFill>
                  <a:schemeClr val="dk1"/>
                </a:solidFill>
              </a:rPr>
              <a:t>出這個子空間（即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US">
                <a:solidFill>
                  <a:schemeClr val="dk1"/>
                </a:solidFill>
              </a:rPr>
              <a:t> 和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>
                <a:solidFill>
                  <a:schemeClr val="dk1"/>
                </a:solidFill>
              </a:rPr>
              <a:t> 矩陣）。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PCA (主成分分析)：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做什麼？</a:t>
            </a:r>
            <a:r>
              <a:rPr lang="en-US">
                <a:solidFill>
                  <a:schemeClr val="dk1"/>
                </a:solidFill>
              </a:rPr>
              <a:t> PCA 是一種</a:t>
            </a:r>
            <a:r>
              <a:rPr lang="en-US" b="1">
                <a:solidFill>
                  <a:schemeClr val="dk1"/>
                </a:solidFill>
              </a:rPr>
              <a:t>資料分析</a:t>
            </a:r>
            <a:r>
              <a:rPr lang="en-US">
                <a:solidFill>
                  <a:schemeClr val="dk1"/>
                </a:solidFill>
              </a:rPr>
              <a:t>技術。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核心思想：</a:t>
            </a:r>
            <a:r>
              <a:rPr lang="en-US">
                <a:solidFill>
                  <a:schemeClr val="dk1"/>
                </a:solidFill>
              </a:rPr>
              <a:t> 它在</a:t>
            </a:r>
            <a:r>
              <a:rPr lang="en-US" b="1">
                <a:solidFill>
                  <a:schemeClr val="dk1"/>
                </a:solidFill>
              </a:rPr>
              <a:t>資料 (Data)</a:t>
            </a:r>
            <a:r>
              <a:rPr lang="en-US">
                <a:solidFill>
                  <a:schemeClr val="dk1"/>
                </a:solidFill>
              </a:rPr>
              <a:t> 中尋找一個「低秩子空間」（即主成分），這個子空間能以最小的資訊損失來代表</a:t>
            </a:r>
            <a:r>
              <a:rPr lang="en-US" b="1">
                <a:solidFill>
                  <a:schemeClr val="dk1"/>
                </a:solidFill>
              </a:rPr>
              <a:t>原始資料集</a:t>
            </a:r>
            <a:r>
              <a:rPr lang="en-US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方法：</a:t>
            </a:r>
            <a:r>
              <a:rPr lang="en-US">
                <a:solidFill>
                  <a:schemeClr val="dk1"/>
                </a:solidFill>
              </a:rPr>
              <a:t> 通常使用 SVD（奇異值分解，另一種矩陣拆解）來</a:t>
            </a:r>
            <a:r>
              <a:rPr lang="en-US" b="1">
                <a:solidFill>
                  <a:schemeClr val="dk1"/>
                </a:solidFill>
              </a:rPr>
              <a:t>分析</a:t>
            </a:r>
            <a:r>
              <a:rPr lang="en-US">
                <a:solidFill>
                  <a:schemeClr val="dk1"/>
                </a:solidFill>
              </a:rPr>
              <a:t>並</a:t>
            </a:r>
            <a:r>
              <a:rPr lang="en-US" b="1">
                <a:solidFill>
                  <a:schemeClr val="dk1"/>
                </a:solidFill>
              </a:rPr>
              <a:t>找出</a:t>
            </a:r>
            <a:r>
              <a:rPr lang="en-US">
                <a:solidFill>
                  <a:schemeClr val="dk1"/>
                </a:solidFill>
              </a:rPr>
              <a:t>這個最佳的子空間。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8ff8f07c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98ff8f07c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8ff8f07c1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98ff8f07c1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8ff8f07c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98ff8f07c1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這是訓練資料中有的組合但回答錯誤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8ff8f07c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8ff8f07c1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屬性招式都錯，無法判斷是哪隻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8ff8f07c1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98ff8f07c1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暗影大劍鬼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烈劍鷹</a:t>
            </a:r>
            <a:br>
              <a:rPr lang="en-US" dirty="0"/>
            </a:br>
            <a:r>
              <a:rPr lang="en-US" dirty="0" err="1"/>
              <a:t>這是資料集中沒有的組合能正確回覆</a:t>
            </a: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simon3458/google-gemma-2-llm-model-intro-5d45c0f5e699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pdf/2106.09685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https://arxiv.org/pdf/2106.09685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81025" y="1339155"/>
            <a:ext cx="115815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Finetuning of Gemma-2 2B with LLaMA Factory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80950" y="3329995"/>
            <a:ext cx="11030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You-Lin Lin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7415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980875" y="3783995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Date: November </a:t>
            </a:r>
            <a:r>
              <a:rPr lang="en-US" sz="150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00" y="234875"/>
            <a:ext cx="12034148" cy="588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581025" y="2790825"/>
            <a:ext cx="9525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581025" y="3038475"/>
            <a:ext cx="5850731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Model Selection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16"/>
          <p:cNvGraphicFramePr/>
          <p:nvPr/>
        </p:nvGraphicFramePr>
        <p:xfrm>
          <a:off x="764925" y="2023250"/>
          <a:ext cx="10862600" cy="4518432"/>
        </p:xfrm>
        <a:graphic>
          <a:graphicData uri="http://schemas.openxmlformats.org/drawingml/2006/table">
            <a:tbl>
              <a:tblPr firstRow="1" bandRow="1">
                <a:noFill/>
                <a:tableStyleId>{71168DB0-652E-4FAC-BB68-DAAAB78AF17E}</a:tableStyleId>
              </a:tblPr>
              <a:tblGrid>
                <a:gridCol w="274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Llama-3 8B (Standard)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Gemma-2 (9B / 27B)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Gemma-2 (2B) </a:t>
                      </a:r>
                      <a:endParaRPr sz="2000" i="0" u="none" strike="noStrike" cap="none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Core Architecture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Transformer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Hybrid (Transformer + Mamba)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Transformer</a:t>
                      </a:r>
                      <a:endParaRPr sz="2000" i="0" u="none" strike="noStrike" cap="none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Attention Mechanism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Grouped Query Attention (GQA)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Attention + SSM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Grouped Query Attention (GQA)</a:t>
                      </a:r>
                      <a:endParaRPr sz="2000" i="0" u="none" strike="noStrike" cap="none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Normalization Layer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RMSNorm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RMSNorm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RMSNorm</a:t>
                      </a:r>
                      <a:endParaRPr sz="2000" i="0" u="none" strike="noStrike" cap="none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Activation Function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SwiGLU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SwiGLU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SwiGLU</a:t>
                      </a:r>
                      <a:endParaRPr sz="2000" i="0" u="none" strike="noStrike" cap="none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Positional Encoding</a:t>
                      </a:r>
                      <a:endParaRPr sz="2000" i="0" u="none" strike="noStrike" cap="none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RoPE</a:t>
                      </a:r>
                      <a:endParaRPr sz="2000" i="0" u="none" strike="noStrike" cap="none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RoPE</a:t>
                      </a:r>
                      <a:endParaRPr sz="2000" i="0" u="none" strike="noStrike" cap="none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</a:rPr>
                        <a:t>RoPE</a:t>
                      </a:r>
                      <a:endParaRPr sz="2000" i="0" u="none" strike="noStrike" cap="none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3" name="Google Shape;103;p16"/>
          <p:cNvSpPr txBox="1"/>
          <p:nvPr/>
        </p:nvSpPr>
        <p:spPr>
          <a:xfrm>
            <a:off x="581025" y="58102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Model Selection</a:t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581025" y="1295400"/>
            <a:ext cx="110301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581025" y="1713550"/>
            <a:ext cx="7049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 comparison between Google's Gemma and Meta's Llama families.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581025" y="58102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Model Selection</a:t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581025" y="1295400"/>
            <a:ext cx="110301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17"/>
          <p:cNvGraphicFramePr/>
          <p:nvPr/>
        </p:nvGraphicFramePr>
        <p:xfrm>
          <a:off x="833425" y="1843225"/>
          <a:ext cx="10525125" cy="4164330"/>
        </p:xfrm>
        <a:graphic>
          <a:graphicData uri="http://schemas.openxmlformats.org/drawingml/2006/table">
            <a:tbl>
              <a:tblPr>
                <a:noFill/>
                <a:tableStyleId>{D1D66796-F609-42DD-9F2B-5C1324AA9B38}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6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</a:t>
                      </a:r>
                      <a:endParaRPr sz="2000" b="1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Gemma-2 2B (Official Data)</a:t>
                      </a:r>
                      <a:endParaRPr sz="2000" b="1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 3 8B (Chart Data)</a:t>
                      </a:r>
                      <a:endParaRPr sz="2000" b="1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Gemma PT 9B (Chart Data)</a:t>
                      </a:r>
                      <a:endParaRPr sz="2000" b="1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Mistral 7B Instruct (Chart Data)</a:t>
                      </a:r>
                      <a:endParaRPr sz="2000" b="1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MMLU (5-shot)</a:t>
                      </a:r>
                      <a:endParaRPr sz="2000" dirty="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64.3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68.4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71.3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58.4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HumanEval (0-shot)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31.8 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62.2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40.2 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36.6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GSM-8K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51.5 (8-shot)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79.6 (5-shot, CoT)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68.6 (5-shot)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39.9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MATH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25.1 (4-shot, CoT)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30.0 (4-shot, CoT)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36.6</a:t>
                      </a:r>
                      <a:endParaRPr sz="200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11.0</a:t>
                      </a:r>
                      <a:endParaRPr sz="2000" dirty="0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1B1C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3" name="Google Shape;113;p17"/>
          <p:cNvSpPr txBox="1"/>
          <p:nvPr/>
        </p:nvSpPr>
        <p:spPr>
          <a:xfrm>
            <a:off x="5710339" y="6129475"/>
            <a:ext cx="771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source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581025" y="2276475"/>
            <a:ext cx="9525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581025" y="2524125"/>
            <a:ext cx="11581447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LLaMA Factory (1): Environment Setup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2931765"/>
            <a:ext cx="4733925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Env Setup: Step 1 &amp; 2</a:t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581025" y="1295400"/>
            <a:ext cx="1102995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876300" y="1914525"/>
            <a:ext cx="497062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1. Create Conda Environment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876300" y="2486025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Start with a clean Python 3.10 environment.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6581775" y="1914525"/>
            <a:ext cx="49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2. Install PyTorch </a:t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6581775" y="2486025"/>
            <a:ext cx="4734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Must match CUDA 12.1 and be torch&gt;=2.</a:t>
            </a:r>
            <a:r>
              <a:rPr lang="en-US" sz="135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for Gemma </a:t>
            </a:r>
            <a:r>
              <a:rPr lang="en-US" sz="135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support.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2931765"/>
            <a:ext cx="47339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Env Setup: Step 3 &amp; 4</a:t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581025" y="1295400"/>
            <a:ext cx="1102995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876300" y="1914525"/>
            <a:ext cx="497062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3. Install LLaMA Factory</a:t>
            </a: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876300" y="2486025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Clone the repository and install it in editable mode.</a:t>
            </a:r>
            <a:endParaRPr/>
          </a:p>
        </p:txBody>
      </p:sp>
      <p:sp>
        <p:nvSpPr>
          <p:cNvPr id="140" name="Google Shape;140;p20"/>
          <p:cNvSpPr txBox="1"/>
          <p:nvPr/>
        </p:nvSpPr>
        <p:spPr>
          <a:xfrm>
            <a:off x="6581775" y="1914525"/>
            <a:ext cx="497062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4. Hugging Face Auth (Critical)</a:t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6581775" y="2486025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Gemma 2/3 is a "Gated Repo" (causes 401/403 errors).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677025" y="29308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6772275" y="2931765"/>
            <a:ext cx="4543425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Step A: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Agree to terms on the google/gemma-2-2b-it HF page.</a:t>
            </a:r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6677025" y="348891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6772275" y="3489870"/>
            <a:ext cx="4543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Step B: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Log in on the terminal: huggingface-cli login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/>
          <p:nvPr/>
        </p:nvSpPr>
        <p:spPr>
          <a:xfrm>
            <a:off x="581025" y="2276475"/>
            <a:ext cx="9525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581025" y="2524125"/>
            <a:ext cx="11581447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LLaMA Factory (2): Data Preparation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/>
        </p:nvSpPr>
        <p:spPr>
          <a:xfrm>
            <a:off x="581025" y="1586175"/>
            <a:ext cx="5640600" cy="4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1B1C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B1C1D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 sz="2700" b="1">
              <a:solidFill>
                <a:srgbClr val="1B1C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C1D"/>
              </a:buClr>
              <a:buSzPts val="2100"/>
              <a:buChar char="●"/>
            </a:pPr>
            <a:r>
              <a:rPr lang="en-US" sz="2100">
                <a:solidFill>
                  <a:srgbClr val="1B1C1D"/>
                </a:solidFill>
                <a:latin typeface="Calibri"/>
                <a:ea typeface="Calibri"/>
                <a:cs typeface="Calibri"/>
                <a:sym typeface="Calibri"/>
              </a:rPr>
              <a:t>pvpoke_overall_rankings_raw.json</a:t>
            </a:r>
            <a:endParaRPr sz="2100">
              <a:solidFill>
                <a:srgbClr val="1B1C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1B1C1D"/>
                </a:solidFill>
                <a:latin typeface="Calibri"/>
                <a:ea typeface="Calibri"/>
                <a:cs typeface="Calibri"/>
                <a:sym typeface="Calibri"/>
              </a:rPr>
              <a:t>pvpoke_gamemaster_raw.json</a:t>
            </a:r>
            <a:endParaRPr sz="2100">
              <a:solidFill>
                <a:srgbClr val="1B1C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B1C1D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2700" b="1">
              <a:solidFill>
                <a:srgbClr val="1B1C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C1D"/>
              </a:buClr>
              <a:buSzPts val="2100"/>
              <a:buChar char="●"/>
            </a:pPr>
            <a:r>
              <a:rPr lang="en-US" sz="2100" b="1">
                <a:solidFill>
                  <a:srgbClr val="1B1C1D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lang="en-US" sz="2100">
                <a:solidFill>
                  <a:srgbClr val="1B1C1D"/>
                </a:solidFill>
                <a:latin typeface="Calibri"/>
                <a:ea typeface="Calibri"/>
                <a:cs typeface="Calibri"/>
                <a:sym typeface="Calibri"/>
              </a:rPr>
              <a:t> Use SFT to teach Gemma-2 2B to advance from </a:t>
            </a:r>
            <a:r>
              <a:rPr lang="en-US" sz="2100" b="1">
                <a:solidFill>
                  <a:srgbClr val="1B1C1D"/>
                </a:solidFill>
                <a:latin typeface="Calibri"/>
                <a:ea typeface="Calibri"/>
                <a:cs typeface="Calibri"/>
                <a:sym typeface="Calibri"/>
              </a:rPr>
              <a:t>Fact Retrieval</a:t>
            </a:r>
            <a:r>
              <a:rPr lang="en-US" sz="2100">
                <a:solidFill>
                  <a:srgbClr val="1B1C1D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-US" sz="2100" b="1">
                <a:solidFill>
                  <a:srgbClr val="1B1C1D"/>
                </a:solidFill>
                <a:latin typeface="Calibri"/>
                <a:ea typeface="Calibri"/>
                <a:cs typeface="Calibri"/>
                <a:sym typeface="Calibri"/>
              </a:rPr>
              <a:t>Tactical Reasoning</a:t>
            </a:r>
            <a:r>
              <a:rPr lang="en-US" sz="2100">
                <a:solidFill>
                  <a:srgbClr val="1B1C1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>
              <a:solidFill>
                <a:srgbClr val="1B1C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endParaRPr sz="2100">
              <a:solidFill>
                <a:srgbClr val="1B1C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581025" y="58102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Custom SFT Dataset</a:t>
            </a: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581025" y="1295400"/>
            <a:ext cx="110301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825" y="1981388"/>
            <a:ext cx="5665574" cy="3519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19250"/>
            <a:ext cx="5324475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19250"/>
            <a:ext cx="5324475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1775" y="2941290"/>
            <a:ext cx="4733925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Registering a Custom SFT Dataset</a:t>
            </a:r>
            <a:endParaRPr/>
          </a:p>
        </p:txBody>
      </p:sp>
      <p:sp>
        <p:nvSpPr>
          <p:cNvPr id="168" name="Google Shape;168;p23"/>
          <p:cNvSpPr/>
          <p:nvPr/>
        </p:nvSpPr>
        <p:spPr>
          <a:xfrm>
            <a:off x="581025" y="1295400"/>
            <a:ext cx="1102995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876300" y="1914525"/>
            <a:ext cx="497062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1. Place SFT File</a:t>
            </a:r>
            <a:endParaRPr/>
          </a:p>
        </p:txBody>
      </p:sp>
      <p:sp>
        <p:nvSpPr>
          <p:cNvPr id="170" name="Google Shape;170;p23"/>
          <p:cNvSpPr txBox="1"/>
          <p:nvPr/>
        </p:nvSpPr>
        <p:spPr>
          <a:xfrm>
            <a:off x="876300" y="2486025"/>
            <a:ext cx="4733925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Upload your custom SFT JSON file (e.g., pokemon_battle_sft.json) to the data/ directory in the project.</a:t>
            </a:r>
            <a:endParaRPr/>
          </a:p>
        </p:txBody>
      </p:sp>
      <p:sp>
        <p:nvSpPr>
          <p:cNvPr id="171" name="Google Shape;171;p23"/>
          <p:cNvSpPr txBox="1"/>
          <p:nvPr/>
        </p:nvSpPr>
        <p:spPr>
          <a:xfrm>
            <a:off x="6581775" y="1914525"/>
            <a:ext cx="497062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2. Register Dataset</a:t>
            </a:r>
            <a:endParaRPr/>
          </a:p>
        </p:txBody>
      </p:sp>
      <p:sp>
        <p:nvSpPr>
          <p:cNvPr id="172" name="Google Shape;172;p23"/>
          <p:cNvSpPr txBox="1"/>
          <p:nvPr/>
        </p:nvSpPr>
        <p:spPr>
          <a:xfrm>
            <a:off x="6581775" y="2486025"/>
            <a:ext cx="4733925" cy="28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Edit data/dataset_info.json. Add a key for your dataset.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/>
          <p:nvPr/>
        </p:nvSpPr>
        <p:spPr>
          <a:xfrm>
            <a:off x="581025" y="2276475"/>
            <a:ext cx="9525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581025" y="2524125"/>
            <a:ext cx="11581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LLaMA Factory (3): Training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Key Training Parameters (WebUI)</a:t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581025" y="1295400"/>
            <a:ext cx="1102995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962025" y="1714500"/>
            <a:ext cx="9144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50"/>
              <a:buFont typeface="Lato"/>
              <a:buChar char="●"/>
            </a:pPr>
            <a:r>
              <a:rPr lang="en-US" sz="1650" b="1" i="0" u="none" strike="noStrike" cap="non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Model Path: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google/gemma-2-2b-it </a:t>
            </a:r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962025" y="2641996"/>
            <a:ext cx="9144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50"/>
              <a:buFont typeface="Lato"/>
              <a:buChar char="●"/>
            </a:pPr>
            <a:r>
              <a:rPr lang="en-US" sz="1650" b="1" i="0" u="none" strike="noStrike" cap="non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lora</a:t>
            </a:r>
            <a:endParaRPr b="1"/>
          </a:p>
        </p:txBody>
      </p:sp>
      <p:sp>
        <p:nvSpPr>
          <p:cNvPr id="187" name="Google Shape;187;p25"/>
          <p:cNvSpPr txBox="1"/>
          <p:nvPr/>
        </p:nvSpPr>
        <p:spPr>
          <a:xfrm>
            <a:off x="962025" y="3569493"/>
            <a:ext cx="9144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50"/>
              <a:buFont typeface="Lato"/>
              <a:buChar char="●"/>
            </a:pPr>
            <a:r>
              <a:rPr lang="en-US" sz="1650" b="1" i="0" u="none" strike="noStrike" cap="none" dirty="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Dataset:</a:t>
            </a:r>
            <a:r>
              <a:rPr lang="en-US" sz="16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pokemon_battle_sft</a:t>
            </a:r>
            <a:endParaRPr dirty="0"/>
          </a:p>
        </p:txBody>
      </p:sp>
      <p:sp>
        <p:nvSpPr>
          <p:cNvPr id="188" name="Google Shape;188;p25"/>
          <p:cNvSpPr txBox="1"/>
          <p:nvPr/>
        </p:nvSpPr>
        <p:spPr>
          <a:xfrm>
            <a:off x="962025" y="4496990"/>
            <a:ext cx="9144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50"/>
              <a:buFont typeface="Lato"/>
              <a:buChar char="●"/>
            </a:pPr>
            <a:r>
              <a:rPr lang="en-US" sz="1650" b="1" i="0" u="none" strike="noStrike" cap="non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Quantization: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none (Use bf16)</a:t>
            </a:r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962025" y="5424487"/>
            <a:ext cx="9144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50"/>
              <a:buFont typeface="Lato"/>
              <a:buChar char="●"/>
            </a:pPr>
            <a:r>
              <a:rPr lang="en-US" sz="1650" b="1" i="0" u="none" strike="noStrike" cap="non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Batch Size: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r>
              <a:rPr lang="en-US" sz="16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/ </a:t>
            </a:r>
            <a:r>
              <a:rPr lang="en-US" sz="1650" b="1" i="0" u="none" strike="noStrike" cap="non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Gradient Accumulation:</a:t>
            </a:r>
            <a:r>
              <a:rPr lang="en-US" sz="16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n-US" sz="16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(Effective Batch = 32)</a:t>
            </a:r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581025" y="3588543"/>
            <a:ext cx="22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581025" y="5443537"/>
            <a:ext cx="22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/>
          <p:nvPr/>
        </p:nvSpPr>
        <p:spPr>
          <a:xfrm>
            <a:off x="581025" y="2276475"/>
            <a:ext cx="9525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581025" y="2524125"/>
            <a:ext cx="11581447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Finetuning Method (1): Introduction to LoRA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19250"/>
            <a:ext cx="5324475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19250"/>
            <a:ext cx="5324475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What is LoRA?</a:t>
            </a:r>
            <a:endParaRPr/>
          </a:p>
        </p:txBody>
      </p:sp>
      <p:sp>
        <p:nvSpPr>
          <p:cNvPr id="205" name="Google Shape;205;p27"/>
          <p:cNvSpPr/>
          <p:nvPr/>
        </p:nvSpPr>
        <p:spPr>
          <a:xfrm>
            <a:off x="581025" y="1295400"/>
            <a:ext cx="1102995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876300" y="1914525"/>
            <a:ext cx="497062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LoRA (Low-Rank Adaptation)</a:t>
            </a:r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876300" y="2486025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LoRA is a Parameter-Efficient Finetuning (PEFT) technique.</a:t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876300" y="2931765"/>
            <a:ext cx="47339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It allows us to adapt large models using a very small number of trainable parameters.</a:t>
            </a:r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6581775" y="1914525"/>
            <a:ext cx="497062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Why Not Full Finetuning?</a:t>
            </a:r>
            <a:endParaRPr/>
          </a:p>
        </p:txBody>
      </p:sp>
      <p:sp>
        <p:nvSpPr>
          <p:cNvPr id="210" name="Google Shape;210;p27"/>
          <p:cNvSpPr txBox="1"/>
          <p:nvPr/>
        </p:nvSpPr>
        <p:spPr>
          <a:xfrm>
            <a:off x="6581775" y="2486025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 full finetune updates all </a:t>
            </a: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2 billion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parameters of Gemma-2.</a:t>
            </a:r>
            <a:endParaRPr/>
          </a:p>
        </p:txBody>
      </p:sp>
      <p:sp>
        <p:nvSpPr>
          <p:cNvPr id="211" name="Google Shape;211;p27"/>
          <p:cNvSpPr txBox="1"/>
          <p:nvPr/>
        </p:nvSpPr>
        <p:spPr>
          <a:xfrm>
            <a:off x="876300" y="39128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 params: 2,624,725,248</a:t>
            </a:r>
            <a:endParaRPr/>
          </a:p>
        </p:txBody>
      </p:sp>
      <p:sp>
        <p:nvSpPr>
          <p:cNvPr id="212" name="Google Shape;212;p27"/>
          <p:cNvSpPr txBox="1"/>
          <p:nvPr/>
        </p:nvSpPr>
        <p:spPr>
          <a:xfrm>
            <a:off x="876300" y="4387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trainable params: 10,383,360</a:t>
            </a:r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876300" y="4965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trainable%: 0.3956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How LoRA Works</a:t>
            </a:r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581025" y="1295400"/>
            <a:ext cx="1102995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1719000" y="4855225"/>
            <a:ext cx="121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1. Freeze</a:t>
            </a:r>
            <a:endParaRPr/>
          </a:p>
        </p:txBody>
      </p:sp>
      <p:sp>
        <p:nvSpPr>
          <p:cNvPr id="221" name="Google Shape;221;p28"/>
          <p:cNvSpPr txBox="1"/>
          <p:nvPr/>
        </p:nvSpPr>
        <p:spPr>
          <a:xfrm>
            <a:off x="876300" y="5569600"/>
            <a:ext cx="2895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Freeze all parameters of the original pre-trained model. They will not be changed during training.</a:t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5475975" y="4855225"/>
            <a:ext cx="1130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2. Inject</a:t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4648200" y="5569600"/>
            <a:ext cx="2895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Inject small, trainable "Low-Rank" matrices (Adapters) next to key layers (e.g., Attention).</a:t>
            </a:r>
            <a:endParaRPr/>
          </a:p>
        </p:txBody>
      </p:sp>
      <p:sp>
        <p:nvSpPr>
          <p:cNvPr id="224" name="Google Shape;224;p28"/>
          <p:cNvSpPr txBox="1"/>
          <p:nvPr/>
        </p:nvSpPr>
        <p:spPr>
          <a:xfrm>
            <a:off x="9332850" y="4855225"/>
            <a:ext cx="1070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3. Train</a:t>
            </a:r>
            <a:endParaRPr/>
          </a:p>
        </p:txBody>
      </p:sp>
      <p:sp>
        <p:nvSpPr>
          <p:cNvPr id="225" name="Google Shape;225;p28"/>
          <p:cNvSpPr txBox="1"/>
          <p:nvPr/>
        </p:nvSpPr>
        <p:spPr>
          <a:xfrm>
            <a:off x="8420100" y="5569600"/>
            <a:ext cx="28956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Only train the small adapter matrices (A and B). </a:t>
            </a:r>
            <a:endParaRPr/>
          </a:p>
        </p:txBody>
      </p:sp>
      <p:pic>
        <p:nvPicPr>
          <p:cNvPr id="226" name="Google Shape;2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875" y="1333500"/>
            <a:ext cx="3744290" cy="32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8"/>
          <p:cNvSpPr txBox="1"/>
          <p:nvPr/>
        </p:nvSpPr>
        <p:spPr>
          <a:xfrm>
            <a:off x="5684641" y="4408825"/>
            <a:ext cx="1070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source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/>
          <p:nvPr/>
        </p:nvSpPr>
        <p:spPr>
          <a:xfrm>
            <a:off x="581025" y="2276475"/>
            <a:ext cx="9525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581025" y="2524125"/>
            <a:ext cx="11581447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Finetuning Method (2): SFT Data Format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19250"/>
            <a:ext cx="5324475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19250"/>
            <a:ext cx="5324475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/>
        </p:nvSpPr>
        <p:spPr>
          <a:xfrm>
            <a:off x="581025" y="58102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Data Format </a:t>
            </a:r>
            <a:endParaRPr/>
          </a:p>
        </p:txBody>
      </p:sp>
      <p:sp>
        <p:nvSpPr>
          <p:cNvPr id="241" name="Google Shape;241;p30"/>
          <p:cNvSpPr/>
          <p:nvPr/>
        </p:nvSpPr>
        <p:spPr>
          <a:xfrm>
            <a:off x="581025" y="1295400"/>
            <a:ext cx="1102995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876300" y="1914525"/>
            <a:ext cx="497062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Format Structure</a:t>
            </a:r>
            <a:endParaRPr/>
          </a:p>
        </p:txBody>
      </p:sp>
      <p:sp>
        <p:nvSpPr>
          <p:cNvPr id="243" name="Google Shape;243;p30"/>
          <p:cNvSpPr txBox="1"/>
          <p:nvPr/>
        </p:nvSpPr>
        <p:spPr>
          <a:xfrm>
            <a:off x="876300" y="2486025"/>
            <a:ext cx="47339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Our data is a JSON list. Each item is a dictionary (a single "example").</a:t>
            </a:r>
            <a:endParaRPr/>
          </a:p>
        </p:txBody>
      </p:sp>
      <p:sp>
        <p:nvSpPr>
          <p:cNvPr id="244" name="Google Shape;244;p30"/>
          <p:cNvSpPr txBox="1"/>
          <p:nvPr/>
        </p:nvSpPr>
        <p:spPr>
          <a:xfrm>
            <a:off x="876300" y="3206055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LLaMA Factory auto-detects the default Alpaca keys:</a:t>
            </a:r>
            <a:endParaRPr/>
          </a:p>
        </p:txBody>
      </p:sp>
      <p:sp>
        <p:nvSpPr>
          <p:cNvPr id="245" name="Google Shape;245;p30"/>
          <p:cNvSpPr txBox="1"/>
          <p:nvPr/>
        </p:nvSpPr>
        <p:spPr>
          <a:xfrm>
            <a:off x="6581775" y="1914525"/>
            <a:ext cx="49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pokemon_battle_sft.json</a:t>
            </a:r>
            <a:endParaRPr/>
          </a:p>
        </p:txBody>
      </p:sp>
      <p:sp>
        <p:nvSpPr>
          <p:cNvPr id="246" name="Google Shape;246;p30"/>
          <p:cNvSpPr txBox="1"/>
          <p:nvPr/>
        </p:nvSpPr>
        <p:spPr>
          <a:xfrm>
            <a:off x="971550" y="36508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7" name="Google Shape;247;p30"/>
          <p:cNvSpPr txBox="1"/>
          <p:nvPr/>
        </p:nvSpPr>
        <p:spPr>
          <a:xfrm>
            <a:off x="1066800" y="3651795"/>
            <a:ext cx="4543425" cy="28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instruction</a:t>
            </a:r>
            <a:endParaRPr/>
          </a:p>
        </p:txBody>
      </p:sp>
      <p:sp>
        <p:nvSpPr>
          <p:cNvPr id="248" name="Google Shape;248;p30"/>
          <p:cNvSpPr txBox="1"/>
          <p:nvPr/>
        </p:nvSpPr>
        <p:spPr>
          <a:xfrm>
            <a:off x="971550" y="39346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9" name="Google Shape;249;p30"/>
          <p:cNvSpPr txBox="1"/>
          <p:nvPr/>
        </p:nvSpPr>
        <p:spPr>
          <a:xfrm>
            <a:off x="1066800" y="3935610"/>
            <a:ext cx="4543425" cy="28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input (optional)</a:t>
            </a:r>
            <a:endParaRPr/>
          </a:p>
        </p:txBody>
      </p:sp>
      <p:sp>
        <p:nvSpPr>
          <p:cNvPr id="250" name="Google Shape;250;p30"/>
          <p:cNvSpPr txBox="1"/>
          <p:nvPr/>
        </p:nvSpPr>
        <p:spPr>
          <a:xfrm>
            <a:off x="971550" y="421847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1" name="Google Shape;251;p30"/>
          <p:cNvSpPr txBox="1"/>
          <p:nvPr/>
        </p:nvSpPr>
        <p:spPr>
          <a:xfrm>
            <a:off x="1066800" y="4219426"/>
            <a:ext cx="4543425" cy="28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output</a:t>
            </a:r>
            <a:endParaRPr/>
          </a:p>
        </p:txBody>
      </p:sp>
      <p:pic>
        <p:nvPicPr>
          <p:cNvPr id="252" name="Google Shape;25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1775" y="2818652"/>
            <a:ext cx="4733925" cy="2940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19250"/>
            <a:ext cx="3486150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1619250"/>
            <a:ext cx="3486150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1619250"/>
            <a:ext cx="3486150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Other LLaMA Factory Data Formats</a:t>
            </a:r>
            <a:endParaRPr/>
          </a:p>
        </p:txBody>
      </p:sp>
      <p:sp>
        <p:nvSpPr>
          <p:cNvPr id="261" name="Google Shape;261;p31"/>
          <p:cNvSpPr/>
          <p:nvPr/>
        </p:nvSpPr>
        <p:spPr>
          <a:xfrm>
            <a:off x="581025" y="1295400"/>
            <a:ext cx="1102995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876300" y="2505075"/>
            <a:ext cx="236029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SFT (Multi-turn)</a:t>
            </a:r>
            <a:endParaRPr/>
          </a:p>
        </p:txBody>
      </p:sp>
      <p:sp>
        <p:nvSpPr>
          <p:cNvPr id="263" name="Google Shape;263;p31"/>
          <p:cNvSpPr txBox="1"/>
          <p:nvPr/>
        </p:nvSpPr>
        <p:spPr>
          <a:xfrm>
            <a:off x="876300" y="3219450"/>
            <a:ext cx="2895600" cy="1106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Format: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ShareGPT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Purpose: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To teach conversational context and memory.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Keys: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conversations (list)</a:t>
            </a:r>
            <a:endParaRPr/>
          </a:p>
        </p:txBody>
      </p:sp>
      <p:sp>
        <p:nvSpPr>
          <p:cNvPr id="264" name="Google Shape;264;p31"/>
          <p:cNvSpPr txBox="1"/>
          <p:nvPr/>
        </p:nvSpPr>
        <p:spPr>
          <a:xfrm>
            <a:off x="4648200" y="2505075"/>
            <a:ext cx="15701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Alignment</a:t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4648200" y="3219450"/>
            <a:ext cx="2895600" cy="1106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Format: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DPO / ORPO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Purpose: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To teach the model human preferences (safety, helpfulness).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Keys: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chosen, rejected</a:t>
            </a:r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8420100" y="2505075"/>
            <a:ext cx="181022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Pre-training</a:t>
            </a:r>
            <a:endParaRPr/>
          </a:p>
        </p:txBody>
      </p:sp>
      <p:sp>
        <p:nvSpPr>
          <p:cNvPr id="267" name="Google Shape;267;p31"/>
          <p:cNvSpPr txBox="1"/>
          <p:nvPr/>
        </p:nvSpPr>
        <p:spPr>
          <a:xfrm>
            <a:off x="8420100" y="3219450"/>
            <a:ext cx="2895600" cy="138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Format: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Text files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Purpose: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To "instill" new, raw knowledge into the model (e.g., medical texts).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Keys: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text</a:t>
            </a:r>
            <a:endParaRPr/>
          </a:p>
        </p:txBody>
      </p:sp>
      <p:pic>
        <p:nvPicPr>
          <p:cNvPr id="268" name="Google Shape;268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19335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193357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0100" y="1933575"/>
            <a:ext cx="3905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>
            <a:off x="581025" y="2276475"/>
            <a:ext cx="952500" cy="573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581025" y="2524125"/>
            <a:ext cx="11581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3"/>
          <p:cNvPicPr preferRelativeResize="0"/>
          <p:nvPr/>
        </p:nvPicPr>
        <p:blipFill rotWithShape="1">
          <a:blip r:embed="rId3">
            <a:alphaModFix/>
          </a:blip>
          <a:srcRect l="-1547" r="36239" b="21036"/>
          <a:stretch/>
        </p:blipFill>
        <p:spPr>
          <a:xfrm>
            <a:off x="56200" y="234875"/>
            <a:ext cx="11198375" cy="6623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2255700" y="4656000"/>
            <a:ext cx="784800" cy="516300"/>
          </a:xfrm>
          <a:prstGeom prst="rect">
            <a:avLst/>
          </a:prstGeom>
          <a:noFill/>
          <a:ln w="7620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4"/>
          <p:cNvPicPr preferRelativeResize="0"/>
          <p:nvPr/>
        </p:nvPicPr>
        <p:blipFill rotWithShape="1">
          <a:blip r:embed="rId3">
            <a:alphaModFix/>
          </a:blip>
          <a:srcRect r="49397"/>
          <a:stretch/>
        </p:blipFill>
        <p:spPr>
          <a:xfrm>
            <a:off x="0" y="1298850"/>
            <a:ext cx="10592848" cy="306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4"/>
          <p:cNvPicPr preferRelativeResize="0"/>
          <p:nvPr/>
        </p:nvPicPr>
        <p:blipFill rotWithShape="1">
          <a:blip r:embed="rId3">
            <a:alphaModFix/>
          </a:blip>
          <a:srcRect l="77645" b="67815"/>
          <a:stretch/>
        </p:blipFill>
        <p:spPr>
          <a:xfrm>
            <a:off x="4320401" y="302850"/>
            <a:ext cx="7871601" cy="174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4"/>
            <a:ext cx="3321974" cy="174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8738" y="4746425"/>
            <a:ext cx="87153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05588" y="4746425"/>
            <a:ext cx="2186400" cy="21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4"/>
          <p:cNvSpPr txBox="1"/>
          <p:nvPr/>
        </p:nvSpPr>
        <p:spPr>
          <a:xfrm>
            <a:off x="148666" y="1742150"/>
            <a:ext cx="1070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source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35"/>
          <p:cNvPicPr preferRelativeResize="0"/>
          <p:nvPr/>
        </p:nvPicPr>
        <p:blipFill rotWithShape="1">
          <a:blip r:embed="rId3">
            <a:alphaModFix/>
          </a:blip>
          <a:srcRect l="85812" b="72643"/>
          <a:stretch/>
        </p:blipFill>
        <p:spPr>
          <a:xfrm>
            <a:off x="6529252" y="152400"/>
            <a:ext cx="5510351" cy="175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5"/>
          <p:cNvPicPr preferRelativeResize="0"/>
          <p:nvPr/>
        </p:nvPicPr>
        <p:blipFill rotWithShape="1">
          <a:blip r:embed="rId3">
            <a:alphaModFix/>
          </a:blip>
          <a:srcRect t="33598" r="50570"/>
          <a:stretch/>
        </p:blipFill>
        <p:spPr>
          <a:xfrm>
            <a:off x="0" y="1908675"/>
            <a:ext cx="10697848" cy="237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6"/>
          <p:cNvPicPr preferRelativeResize="0"/>
          <p:nvPr/>
        </p:nvPicPr>
        <p:blipFill rotWithShape="1">
          <a:blip r:embed="rId3">
            <a:alphaModFix/>
          </a:blip>
          <a:srcRect l="73756" b="81327"/>
          <a:stretch/>
        </p:blipFill>
        <p:spPr>
          <a:xfrm>
            <a:off x="7091349" y="318100"/>
            <a:ext cx="5100651" cy="51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6"/>
          <p:cNvPicPr preferRelativeResize="0"/>
          <p:nvPr/>
        </p:nvPicPr>
        <p:blipFill rotWithShape="1">
          <a:blip r:embed="rId3">
            <a:alphaModFix/>
          </a:blip>
          <a:srcRect t="29198" r="41626"/>
          <a:stretch/>
        </p:blipFill>
        <p:spPr>
          <a:xfrm>
            <a:off x="76200" y="1351025"/>
            <a:ext cx="12039601" cy="2077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625" y="3643346"/>
            <a:ext cx="6023644" cy="3124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6344" y="4077146"/>
            <a:ext cx="539115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/>
        </p:nvSpPr>
        <p:spPr>
          <a:xfrm>
            <a:off x="5395925" y="2941444"/>
            <a:ext cx="14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1807</Words>
  <Application>Microsoft Macintosh PowerPoint</Application>
  <PresentationFormat>寬螢幕</PresentationFormat>
  <Paragraphs>222</Paragraphs>
  <Slides>25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1" baseType="lpstr">
      <vt:lpstr>Arial</vt:lpstr>
      <vt:lpstr>Roboto Mono</vt:lpstr>
      <vt:lpstr>Lato</vt:lpstr>
      <vt:lpstr>Calibri</vt:lpstr>
      <vt:lpstr>Poppins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林宥霖</cp:lastModifiedBy>
  <cp:revision>2</cp:revision>
  <dcterms:modified xsi:type="dcterms:W3CDTF">2026-03-19T15:58:39Z</dcterms:modified>
</cp:coreProperties>
</file>